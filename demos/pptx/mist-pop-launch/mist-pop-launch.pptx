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4e21e92eab45b8" /><Relationship Type="http://schemas.openxmlformats.org/officeDocument/2006/relationships/extended-properties" Target="/docProps/app.xml" Id="R1a771dc989784176" /><Relationship Type="http://schemas.openxmlformats.org/officeDocument/2006/relationships/officeDocument" Target="/ppt/presentation.xml" Id="R193311f2795b45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42b50bf1064a41"/>
    <p:sldMasterId xmlns:r="http://schemas.openxmlformats.org/officeDocument/2006/relationships" id="2147483650" r:id="Rbab5969baec749ef"/>
  </p:sldMasterIdLst>
  <p:notesMasterIdLst>
    <p:notesMasterId xmlns:r="http://schemas.openxmlformats.org/officeDocument/2006/relationships" r:id="R84738d3c15114ac9"/>
  </p:notesMasterIdLst>
  <p:sldIdLst>
    <p:sldId xmlns:r="http://schemas.openxmlformats.org/officeDocument/2006/relationships" id="256" r:id="R21851e4c59da4a96"/>
    <p:sldId xmlns:r="http://schemas.openxmlformats.org/officeDocument/2006/relationships" id="257" r:id="R90c536cd80b64f5d"/>
    <p:sldId xmlns:r="http://schemas.openxmlformats.org/officeDocument/2006/relationships" id="258" r:id="R434c542e694c49aa"/>
    <p:sldId xmlns:r="http://schemas.openxmlformats.org/officeDocument/2006/relationships" id="259" r:id="Re4e4c87e315b42d1"/>
    <p:sldId xmlns:r="http://schemas.openxmlformats.org/officeDocument/2006/relationships" id="260" r:id="R2cb262fe001341bd"/>
    <p:sldId xmlns:r="http://schemas.openxmlformats.org/officeDocument/2006/relationships" id="261" r:id="R9314b815677240fe"/>
    <p:sldId xmlns:r="http://schemas.openxmlformats.org/officeDocument/2006/relationships" id="262" r:id="R91f6bea9c4bd46b7"/>
    <p:sldId xmlns:r="http://schemas.openxmlformats.org/officeDocument/2006/relationships" id="263" r:id="R880038ab7d63460d"/>
    <p:sldId xmlns:r="http://schemas.openxmlformats.org/officeDocument/2006/relationships" id="264" r:id="R765d16b5481f4beb"/>
    <p:sldId xmlns:r="http://schemas.openxmlformats.org/officeDocument/2006/relationships" id="265" r:id="R48634843016845a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26188457494de5" /><Relationship Type="http://schemas.openxmlformats.org/officeDocument/2006/relationships/slideMaster" Target="/ppt/slideMasters/slideMaster1.xml" Id="R9642b50bf1064a41" /><Relationship Type="http://schemas.openxmlformats.org/officeDocument/2006/relationships/slideMaster" Target="/ppt/slideMasters/slideMaster2.xml" Id="Rbab5969baec749ef" /><Relationship Type="http://schemas.openxmlformats.org/officeDocument/2006/relationships/notesMaster" Target="/ppt/notesMasters/notesMaster1.xml" Id="R84738d3c15114ac9" /><Relationship Type="http://schemas.openxmlformats.org/officeDocument/2006/relationships/presProps" Target="/ppt/presProps.xml" Id="Rbc38119b8dc24ed3" /><Relationship Type="http://schemas.openxmlformats.org/officeDocument/2006/relationships/tableStyles" Target="/ppt/tableStyles.xml" Id="Rd5af61da3a6d426b" /><Relationship Type="http://schemas.openxmlformats.org/officeDocument/2006/relationships/slide" Target="/ppt/slides/slide1.xml" Id="R21851e4c59da4a96" /><Relationship Type="http://schemas.openxmlformats.org/officeDocument/2006/relationships/slide" Target="/ppt/slides/slide2.xml" Id="R90c536cd80b64f5d" /><Relationship Type="http://schemas.openxmlformats.org/officeDocument/2006/relationships/slide" Target="/ppt/slides/slide3.xml" Id="R434c542e694c49aa" /><Relationship Type="http://schemas.openxmlformats.org/officeDocument/2006/relationships/slide" Target="/ppt/slides/slide4.xml" Id="Re4e4c87e315b42d1" /><Relationship Type="http://schemas.openxmlformats.org/officeDocument/2006/relationships/slide" Target="/ppt/slides/slide5.xml" Id="R2cb262fe001341bd" /><Relationship Type="http://schemas.openxmlformats.org/officeDocument/2006/relationships/slide" Target="/ppt/slides/slide6.xml" Id="R9314b815677240fe" /><Relationship Type="http://schemas.openxmlformats.org/officeDocument/2006/relationships/slide" Target="/ppt/slides/slide7.xml" Id="R91f6bea9c4bd46b7" /><Relationship Type="http://schemas.openxmlformats.org/officeDocument/2006/relationships/slide" Target="/ppt/slides/slide8.xml" Id="R880038ab7d63460d" /><Relationship Type="http://schemas.openxmlformats.org/officeDocument/2006/relationships/slide" Target="/ppt/slides/slide9.xml" Id="R765d16b5481f4beb" /><Relationship Type="http://schemas.openxmlformats.org/officeDocument/2006/relationships/slide" Target="/ppt/slides/slide10.xml" Id="R48634843016845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6feb1f90eaa4f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6076fe192748be" /><Relationship Type="http://schemas.openxmlformats.org/officeDocument/2006/relationships/notesMaster" Target="/ppt/notesMasters/notesMaster1.xml" Id="R7d1b3219aa7540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e455f3bfab4dfe" /><Relationship Type="http://schemas.openxmlformats.org/officeDocument/2006/relationships/notesMaster" Target="/ppt/notesMasters/notesMaster1.xml" Id="R8ccbf8c753ca43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b40d23d5b5476f" /><Relationship Type="http://schemas.openxmlformats.org/officeDocument/2006/relationships/notesMaster" Target="/ppt/notesMasters/notesMaster1.xml" Id="Rceb6867dead148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54336dda854fb7" /><Relationship Type="http://schemas.openxmlformats.org/officeDocument/2006/relationships/notesMaster" Target="/ppt/notesMasters/notesMaster1.xml" Id="Ree5ef79e412d44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9d291bd8454e78" /><Relationship Type="http://schemas.openxmlformats.org/officeDocument/2006/relationships/notesMaster" Target="/ppt/notesMasters/notesMaster1.xml" Id="R3884591ef21543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19af820fa24555" /><Relationship Type="http://schemas.openxmlformats.org/officeDocument/2006/relationships/notesMaster" Target="/ppt/notesMasters/notesMaster1.xml" Id="R04b8c51edf4843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d05d407ab14616" /><Relationship Type="http://schemas.openxmlformats.org/officeDocument/2006/relationships/notesMaster" Target="/ppt/notesMasters/notesMaster1.xml" Id="Ra2f72fffd15649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cf212bd5ec4d5b" /><Relationship Type="http://schemas.openxmlformats.org/officeDocument/2006/relationships/notesMaster" Target="/ppt/notesMasters/notesMaster1.xml" Id="R1161024692e649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27758e141a4982" /><Relationship Type="http://schemas.openxmlformats.org/officeDocument/2006/relationships/notesMaster" Target="/ppt/notesMasters/notesMaster1.xml" Id="R1b606854bdc740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bf07deb5cd4096" /><Relationship Type="http://schemas.openxmlformats.org/officeDocument/2006/relationships/notesMaster" Target="/ppt/notesMasters/notesMaster1.xml" Id="R2738e6be3a8c49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封面：先建立一個可被記住的晚餐情境，再把 90 天任務落到可驗證節奏。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虛構示範資料；無外部來源。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三個優先順序是本案的判斷框架，後續每頁都回到這條軸線。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虛構示範資料；無外部來源。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比較表不是品牌宣稱，而是用來示範產品如何改寫使用情境。所有內容均為虛構。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虛構示範資料；無外部來源。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流程用四個 native node 與連接線呈現，所有文字與圖形均可在 PowerPoint 中單獨編輯。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虛構示範資料；無外部來源。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KPI 版面把數字放在第一閱讀層；比例為虛構示範，不代表市場預測。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虛構示範資料；無外部來源。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矩陣用 native axes、dots、labels 組成，沒有背景圖片。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虛構示範資料；無外部來源。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漏斗以 native shapes 和 labels 呈現；比例是虛構示範訊號，不是預測。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虛構示範資料；無外部來源。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時間軸以三個可編輯區塊、連接箭頭與文字組成，沒有扁平化背景。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虛構示範資料；無外部來源。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低強度停頓頁：把複雜計畫收斂成一個決策問題。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虛構示範資料；無外部來源。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收尾頁：把三個行動變成可立即啟動的工作清單。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虛構示範資料；無外部來源。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虛構示範資料；無外部來源。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1fbb6fedc4b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a85af90a2f4e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e30b5c84ca4d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c3b533bc4041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40fe2bf664442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6d66d9c6c94f6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18a1949cc643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914b5a6c5345c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f7f008985b4f4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577a202c88467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e2bc948e7d40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mist-pop--cover-mid-right-column-meta-upper-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300ED7-EB24-4460-AC3E-3C1B02B27A2A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28750" y="1562100"/>
            <a:ext cx="142875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25B8DAB-3FF6-442B-ADCE-C07519145F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66850" y="2571750"/>
            <a:ext cx="12382500" cy="495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740A3879-EEED-49E4-A834-5E23B6C3BDF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3333750"/>
            <a:ext cx="15430500" cy="533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mist-pop--strategic-prioriti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3DEA08-5B28-439A-8AB1-8A8372E0D52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28750" y="1562100"/>
            <a:ext cx="142875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18F5825-FBF6-4EF7-9E45-AF491B007B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66850" y="2571750"/>
            <a:ext cx="12382500" cy="495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73B47517-D05B-47F8-990C-CA9FDD21C33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3333750"/>
            <a:ext cx="15430500" cy="533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mist-pop--comparison-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DF853C-C780-449F-BA82-98E0AD9EF88F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28750" y="1562100"/>
            <a:ext cx="142875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7908367-BE69-4E44-82E3-68807D8D6FC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66850" y="2571750"/>
            <a:ext cx="12382500" cy="495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6574266D-9AA1-49FD-ACBB-1E887EFD29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3333750"/>
            <a:ext cx="15430500" cy="533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mist-pop--process-fl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1D6111-EBC4-42C0-8376-EAAE29D1A8B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28750" y="1562100"/>
            <a:ext cx="142875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4C1A203-8D8E-4F45-ABD1-B11114B8C7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66850" y="2571750"/>
            <a:ext cx="12382500" cy="495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3F72888E-5AB3-4836-A4D3-9FDA19631C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3333750"/>
            <a:ext cx="15430500" cy="533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mist-pop--kpi-scorecar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69E4C7-0B18-406F-8034-74279E0CAA5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28750" y="1562100"/>
            <a:ext cx="142875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0C3F556-0602-442F-9872-8747623826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66850" y="2571750"/>
            <a:ext cx="12382500" cy="495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4CD79FA0-CC40-406F-B481-91160FA52F6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3333750"/>
            <a:ext cx="15430500" cy="533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mist-pop--matrix-4quadra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E063C6-F629-4F59-A10A-FDF39A76B66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28750" y="1562100"/>
            <a:ext cx="142875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FDC9868-378B-47C8-AFF9-C069811FBED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66850" y="2571750"/>
            <a:ext cx="12382500" cy="495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E13760A0-3905-4932-8B13-343B1AA622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3333750"/>
            <a:ext cx="15430500" cy="533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mist-pop--data-annot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A288A05-52CB-472E-B8CD-714017EE473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28750" y="1562100"/>
            <a:ext cx="142875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C386D04-C13B-4B2E-81B4-2DD4E953780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66850" y="2571750"/>
            <a:ext cx="12382500" cy="495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AFCBB819-61C5-41F6-A52A-3A5826B0DB1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3333750"/>
            <a:ext cx="15430500" cy="533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mist-pop--gantt-roadma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05E6D6-8503-4F8A-8583-F0326056622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28750" y="1562100"/>
            <a:ext cx="142875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BD59A63-67FD-48D8-AC6B-01B599CA9D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66850" y="2571750"/>
            <a:ext cx="12382500" cy="495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CB8FAE29-F9C7-4ADE-B29B-326FBBA2BB5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3333750"/>
            <a:ext cx="15430500" cy="533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mist-pop--highlight-call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AC783A-B8B8-4294-831F-66E53434931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28750" y="1562100"/>
            <a:ext cx="142875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69A2D80-D2AC-42A7-8D47-AA27B91C08F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66850" y="2571750"/>
            <a:ext cx="12382500" cy="495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8585DF9E-C60F-44FB-8FB8-AD980DBCA11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3333750"/>
            <a:ext cx="15430500" cy="533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mist-pop--title-cen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42C1AF-2FA5-41CB-AE89-EA81A34943A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28750" y="1562100"/>
            <a:ext cx="142875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1D6A9FB-511C-4ACC-AE30-86226E5A63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466850" y="2571750"/>
            <a:ext cx="12382500" cy="495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FD5703C1-4357-4FD5-B8D3-C1C752CB13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3333750"/>
            <a:ext cx="15430500" cy="5334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d470c1c42e4219" /><Relationship Type="http://schemas.openxmlformats.org/officeDocument/2006/relationships/slideLayout" Target="/ppt/slideLayouts/slideLayout1.xml" Id="R5a4440cb2c504c9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b15b1f5f78148cb" /><Relationship Type="http://schemas.openxmlformats.org/officeDocument/2006/relationships/slideLayout" Target="/ppt/slideLayouts/slideLayout2.xml" Id="Ra481bf8bd7cb47ce" /><Relationship Type="http://schemas.openxmlformats.org/officeDocument/2006/relationships/slideLayout" Target="/ppt/slideLayouts/slideLayout3.xml" Id="R77c4aa9f09a04816" /><Relationship Type="http://schemas.openxmlformats.org/officeDocument/2006/relationships/slideLayout" Target="/ppt/slideLayouts/slideLayout4.xml" Id="R5eff1b325aac4b0c" /><Relationship Type="http://schemas.openxmlformats.org/officeDocument/2006/relationships/slideLayout" Target="/ppt/slideLayouts/slideLayout5.xml" Id="R7ce0a43291674260" /><Relationship Type="http://schemas.openxmlformats.org/officeDocument/2006/relationships/slideLayout" Target="/ppt/slideLayouts/slideLayout6.xml" Id="R941534b69a3b46a8" /><Relationship Type="http://schemas.openxmlformats.org/officeDocument/2006/relationships/slideLayout" Target="/ppt/slideLayouts/slideLayout7.xml" Id="Ra183912d535548eb" /><Relationship Type="http://schemas.openxmlformats.org/officeDocument/2006/relationships/slideLayout" Target="/ppt/slideLayouts/slideLayout8.xml" Id="Rdaadf8abf87c4511" /><Relationship Type="http://schemas.openxmlformats.org/officeDocument/2006/relationships/slideLayout" Target="/ppt/slideLayouts/slideLayout9.xml" Id="Rd237db1b2df046d2" /><Relationship Type="http://schemas.openxmlformats.org/officeDocument/2006/relationships/slideLayout" Target="/ppt/slideLayouts/slideLayout10.xml" Id="R022c8dafcbe54717" /><Relationship Type="http://schemas.openxmlformats.org/officeDocument/2006/relationships/slideLayout" Target="/ppt/slideLayouts/slideLayout11.xml" Id="R2f5e305d34da4e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4440cb2c504c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theme--product-strategy-signal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a481bf8bd7cb47ce"/>
    <p:sldLayoutId xmlns:r="http://schemas.openxmlformats.org/officeDocument/2006/relationships" id="2147483652" r:id="R77c4aa9f09a04816"/>
    <p:sldLayoutId xmlns:r="http://schemas.openxmlformats.org/officeDocument/2006/relationships" id="2147483653" r:id="R5eff1b325aac4b0c"/>
    <p:sldLayoutId xmlns:r="http://schemas.openxmlformats.org/officeDocument/2006/relationships" id="2147483654" r:id="R7ce0a43291674260"/>
    <p:sldLayoutId xmlns:r="http://schemas.openxmlformats.org/officeDocument/2006/relationships" id="2147483655" r:id="R941534b69a3b46a8"/>
    <p:sldLayoutId xmlns:r="http://schemas.openxmlformats.org/officeDocument/2006/relationships" id="2147483656" r:id="Ra183912d535548eb"/>
    <p:sldLayoutId xmlns:r="http://schemas.openxmlformats.org/officeDocument/2006/relationships" id="2147483657" r:id="Rdaadf8abf87c4511"/>
    <p:sldLayoutId xmlns:r="http://schemas.openxmlformats.org/officeDocument/2006/relationships" id="2147483658" r:id="Rd237db1b2df046d2"/>
    <p:sldLayoutId xmlns:r="http://schemas.openxmlformats.org/officeDocument/2006/relationships" id="2147483659" r:id="R022c8dafcbe54717"/>
    <p:sldLayoutId xmlns:r="http://schemas.openxmlformats.org/officeDocument/2006/relationships" id="2147483660" r:id="R2f5e305d34da4e38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03e0c7f3fb4776" /><Relationship Type="http://schemas.openxmlformats.org/officeDocument/2006/relationships/notesSlide" Target="/ppt/notesSlides/notesSlide1.xml" Id="R58e40ea9b90942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6f6daef0b84497d" /><Relationship Type="http://schemas.openxmlformats.org/officeDocument/2006/relationships/notesSlide" Target="/ppt/notesSlides/notesSlide2.xml" Id="R2c9dd4dbcda44a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c06693567ff48d4" /><Relationship Type="http://schemas.openxmlformats.org/officeDocument/2006/relationships/notesSlide" Target="/ppt/notesSlides/notesSlide3.xml" Id="R9a01cd7a9df043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97a827d8dab47ef" /><Relationship Type="http://schemas.openxmlformats.org/officeDocument/2006/relationships/notesSlide" Target="/ppt/notesSlides/notesSlide4.xml" Id="Rd97a51448b3a45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75d87b88c14c0c" /><Relationship Type="http://schemas.openxmlformats.org/officeDocument/2006/relationships/notesSlide" Target="/ppt/notesSlides/notesSlide5.xml" Id="R5eec460e0ecb4c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6cb780b9f34203" /><Relationship Type="http://schemas.openxmlformats.org/officeDocument/2006/relationships/notesSlide" Target="/ppt/notesSlides/notesSlide6.xml" Id="R0e42a20b06554e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c51d6286ba14a39" /><Relationship Type="http://schemas.openxmlformats.org/officeDocument/2006/relationships/notesSlide" Target="/ppt/notesSlides/notesSlide7.xml" Id="Rcc2364b7eb5748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91f25c62caf8444e" /><Relationship Type="http://schemas.openxmlformats.org/officeDocument/2006/relationships/notesSlide" Target="/ppt/notesSlides/notesSlide8.xml" Id="R5cb628107e2f44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5db5867b6f74519" /><Relationship Type="http://schemas.openxmlformats.org/officeDocument/2006/relationships/notesSlide" Target="/ppt/notesSlides/notesSlide9.xml" Id="Rf4bc22dc36c945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9887213da4148e4" /><Relationship Type="http://schemas.openxmlformats.org/officeDocument/2006/relationships/notesSlide" Target="/ppt/notesSlides/notesSlide10.xml" Id="Rbc7fe593d1e843e2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4F7F8"/>
            </a:gs>
            <a:gs pos="100000">
              <a:srgbClr val="E8F0F1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ist-orb-1">
            <a:extLst xmlns:a="http://schemas.openxmlformats.org/drawingml/2006/main">
              <a:ext uri="{FF2B5EF4-FFF2-40B4-BE49-F238E27FC236}">
                <a16:creationId xmlns:a16="http://schemas.microsoft.com/office/drawing/2014/main" id="{D8FA78A4-E12C-49A4-A246-D55D5642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905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ED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ist-orb-lower-1">
            <a:extLst xmlns:a="http://schemas.openxmlformats.org/drawingml/2006/main">
              <a:ext uri="{FF2B5EF4-FFF2-40B4-BE49-F238E27FC236}">
                <a16:creationId xmlns:a16="http://schemas.microsoft.com/office/drawing/2014/main" id="{F6120E35-0458-4A28-8E52-627917BC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01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DE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xis-1">
            <a:extLst xmlns:a="http://schemas.openxmlformats.org/drawingml/2006/main">
              <a:ext uri="{FF2B5EF4-FFF2-40B4-BE49-F238E27FC236}">
                <a16:creationId xmlns:a16="http://schemas.microsoft.com/office/drawing/2014/main" id="{BF36AE8E-6C9E-45FE-BE1D-49BD98E7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1543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1">
            <a:extLst xmlns:a="http://schemas.openxmlformats.org/drawingml/2006/main">
              <a:ext uri="{FF2B5EF4-FFF2-40B4-BE49-F238E27FC236}">
                <a16:creationId xmlns:a16="http://schemas.microsoft.com/office/drawing/2014/main" id="{AC4D52B8-2A71-4F2C-941E-852AE904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spc="2">
                <a:solidFill>
                  <a:srgbClr val="1D6F70"/>
                </a:solidFill>
              </a:defRPr>
            </a:pPr>
            <a:r>
              <a:rPr sz="1500" b="1" spc="2">
                <a:solidFill>
                  <a:srgbClr val="1D6F70"/>
                </a:solidFill>
              </a:rPr>
              <a:t>MIST POP / 90 DAY LAUNCH</a:t>
            </a:r>
          </a:p>
        </p:txBody>
      </p:sp>
      <p:sp>
        <p:nvSpPr>
          <p:cNvPr id="5" name="page-1">
            <a:extLst xmlns:a="http://schemas.openxmlformats.org/drawingml/2006/main">
              <a:ext uri="{FF2B5EF4-FFF2-40B4-BE49-F238E27FC236}">
                <a16:creationId xmlns:a16="http://schemas.microsoft.com/office/drawing/2014/main" id="{B8B68EE3-9678-48BE-ABD0-823B9B3B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715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E6C82"/>
                </a:solidFill>
              </a:defRPr>
            </a:pPr>
            <a:r>
              <a:rPr sz="1500" b="1">
                <a:solidFill>
                  <a:srgbClr val="5E6C82"/>
                </a:solidFill>
              </a:rPr>
              <a:t>01</a:t>
            </a:r>
          </a:p>
        </p:txBody>
      </p:sp>
      <p:sp>
        <p:nvSpPr>
          <p:cNvPr id="6" name="cover-mist-field">
            <a:extLst xmlns:a="http://schemas.openxmlformats.org/drawingml/2006/main">
              <a:ext uri="{FF2B5EF4-FFF2-40B4-BE49-F238E27FC236}">
                <a16:creationId xmlns:a16="http://schemas.microsoft.com/office/drawing/2014/main" id="{A850E9C1-07BE-403A-A91D-CE8A022A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5715000" cy="59055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DDEBED">
              <a:alpha val="80000"/>
            </a:srgbClr>
          </a:solidFill>
          <a:ln xmlns:a="http://schemas.openxmlformats.org/drawingml/2006/main" w="28575">
            <a:solidFill>
              <a:srgbClr val="2E9E9A"/>
            </a:solidFill>
            <a:prstDash val="solid"/>
          </a:ln>
        </p:spPr>
      </p:sp>
      <p:sp>
        <p:nvSpPr>
          <p:cNvPr id="7" name="cover-orb">
            <a:extLst xmlns:a="http://schemas.openxmlformats.org/drawingml/2006/main">
              <a:ext uri="{FF2B5EF4-FFF2-40B4-BE49-F238E27FC236}">
                <a16:creationId xmlns:a16="http://schemas.microsoft.com/office/drawing/2014/main" id="{55901A46-91D3-4DD7-9CE8-03C1E48A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5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signal">
            <a:extLst xmlns:a="http://schemas.openxmlformats.org/drawingml/2006/main">
              <a:ext uri="{FF2B5EF4-FFF2-40B4-BE49-F238E27FC236}">
                <a16:creationId xmlns:a16="http://schemas.microsoft.com/office/drawing/2014/main" id="{723B3095-6EB2-482B-A402-B42DCFDA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81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7A84C313-EAFB-4BEB-A79D-6B92DA55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810375"/>
            <a:ext cx="2762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tle-1">
            <a:extLst xmlns:a="http://schemas.openxmlformats.org/drawingml/2006/main">
              <a:ext uri="{FF2B5EF4-FFF2-40B4-BE49-F238E27FC236}">
                <a16:creationId xmlns:a16="http://schemas.microsoft.com/office/drawing/2014/main" id="{A4630405-E287-48E6-ACB5-8E93E06B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15232E"/>
                </a:solidFill>
              </a:defRPr>
            </a:pPr>
            <a:r>
              <a:rPr sz="8400" b="1">
                <a:solidFill>
                  <a:srgbClr val="15232E"/>
                </a:solidFill>
              </a:rPr>
              <a:t>MIST</a:t>
            </a:r>
          </a:p>
          <a:p xmlns:a="http://schemas.openxmlformats.org/drawingml/2006/main">
            <a:pPr>
              <a:defRPr sz="8400" b="1">
                <a:solidFill>
                  <a:srgbClr val="15232E"/>
                </a:solidFill>
              </a:defRPr>
            </a:pPr>
            <a:r>
              <a:rPr sz="8400" b="1">
                <a:solidFill>
                  <a:srgbClr val="15232E"/>
                </a:solidFill>
              </a:rPr>
              <a:t>POP</a:t>
            </a:r>
          </a:p>
        </p:txBody>
      </p:sp>
      <p:sp>
        <p:nvSpPr>
          <p:cNvPr id="11" name="subtitle-1">
            <a:extLst xmlns:a="http://schemas.openxmlformats.org/drawingml/2006/main">
              <a:ext uri="{FF2B5EF4-FFF2-40B4-BE49-F238E27FC236}">
                <a16:creationId xmlns:a16="http://schemas.microsoft.com/office/drawing/2014/main" id="{08426FC9-4D21-4577-B793-6E9F6A97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6197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D6F70"/>
                </a:solidFill>
              </a:defRPr>
            </a:pPr>
            <a:r>
              <a:rPr sz="3150" b="1">
                <a:solidFill>
                  <a:srgbClr val="1D6F70"/>
                </a:solidFill>
              </a:rPr>
              <a:t>無酒精氣泡飲 90 天上市計畫</a:t>
            </a:r>
          </a:p>
        </p:txBody>
      </p:sp>
      <p:sp>
        <p:nvSpPr>
          <p:cNvPr id="12" name="cover-claim">
            <a:extLst xmlns:a="http://schemas.openxmlformats.org/drawingml/2006/main">
              <a:ext uri="{FF2B5EF4-FFF2-40B4-BE49-F238E27FC236}">
                <a16:creationId xmlns:a16="http://schemas.microsoft.com/office/drawing/2014/main" id="{B8E665F5-4BDC-4C90-A7EB-B2C2206B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6675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5E6C82"/>
                </a:solidFill>
              </a:defRPr>
            </a:pPr>
            <a:r>
              <a:rPr sz="2550">
                <a:solidFill>
                  <a:srgbClr val="5E6C82"/>
                </a:solidFill>
              </a:rPr>
              <a:t>讓晚餐先有氣氛，再談酒精。</a:t>
            </a:r>
          </a:p>
        </p:txBody>
      </p:sp>
      <p:sp>
        <p:nvSpPr>
          <p:cNvPr id="13" name="cover-meta">
            <a:extLst xmlns:a="http://schemas.openxmlformats.org/drawingml/2006/main">
              <a:ext uri="{FF2B5EF4-FFF2-40B4-BE49-F238E27FC236}">
                <a16:creationId xmlns:a16="http://schemas.microsoft.com/office/drawing/2014/main" id="{8925FBBF-11CE-449F-9BA4-AA4E62AF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80010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2"/>
                </a:solidFill>
              </a:defRPr>
            </a:pPr>
            <a:r>
              <a:rPr sz="1650">
                <a:solidFill>
                  <a:srgbClr val="5E6C82"/>
                </a:solidFill>
              </a:rPr>
              <a:t>NESA Slide · fictional demo case</a:t>
            </a:r>
          </a:p>
        </p:txBody>
      </p:sp>
    </p:spTree>
    <p:extLst>
      <p:ext uri="{BB962C8B-B14F-4D97-AF65-F5344CB8AC3E}">
        <p14:creationId xmlns:p14="http://schemas.microsoft.com/office/powerpoint/2010/main" val="38292780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4F7F8"/>
            </a:gs>
            <a:gs pos="100000">
              <a:srgbClr val="E8F0F1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mist-orb-2">
            <a:extLst xmlns:a="http://schemas.openxmlformats.org/drawingml/2006/main">
              <a:ext uri="{FF2B5EF4-FFF2-40B4-BE49-F238E27FC236}">
                <a16:creationId xmlns:a16="http://schemas.microsoft.com/office/drawing/2014/main" id="{97A6BF2B-909E-4B61-85F6-1E9E6FA3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905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ED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ist-orb-lower-2">
            <a:extLst xmlns:a="http://schemas.openxmlformats.org/drawingml/2006/main">
              <a:ext uri="{FF2B5EF4-FFF2-40B4-BE49-F238E27FC236}">
                <a16:creationId xmlns:a16="http://schemas.microsoft.com/office/drawing/2014/main" id="{34C55841-E23A-4FA7-B1EF-94D0B060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01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DE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xis-2">
            <a:extLst xmlns:a="http://schemas.openxmlformats.org/drawingml/2006/main">
              <a:ext uri="{FF2B5EF4-FFF2-40B4-BE49-F238E27FC236}">
                <a16:creationId xmlns:a16="http://schemas.microsoft.com/office/drawing/2014/main" id="{EB4681CF-4D29-46F3-B6DF-09D99945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1543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2">
            <a:extLst xmlns:a="http://schemas.openxmlformats.org/drawingml/2006/main">
              <a:ext uri="{FF2B5EF4-FFF2-40B4-BE49-F238E27FC236}">
                <a16:creationId xmlns:a16="http://schemas.microsoft.com/office/drawing/2014/main" id="{11FC7FE7-C7E0-4F8D-AC2D-A98F0CE4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spc="2">
                <a:solidFill>
                  <a:srgbClr val="1D6F70"/>
                </a:solidFill>
              </a:defRPr>
            </a:pPr>
            <a:r>
              <a:rPr sz="1500" b="1" spc="2">
                <a:solidFill>
                  <a:srgbClr val="1D6F70"/>
                </a:solidFill>
              </a:rPr>
              <a:t>MIST POP / 90 DAY LAUNCH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14C2772B-3BB0-4926-BC03-C28BFE30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715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E6C82"/>
                </a:solidFill>
              </a:defRPr>
            </a:pPr>
            <a:r>
              <a:rPr sz="1500" b="1">
                <a:solidFill>
                  <a:srgbClr val="5E6C82"/>
                </a:solidFill>
              </a:rPr>
              <a:t>02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1F8A6C9D-6C9C-467A-9832-5A673459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6210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5232E"/>
                </a:solidFill>
              </a:defRPr>
            </a:pPr>
            <a:r>
              <a:rPr sz="5400" b="1">
                <a:solidFill>
                  <a:srgbClr val="15232E"/>
                </a:solidFill>
              </a:rPr>
              <a:t>先把第一波牽引力做出來，再擴大聲量</a:t>
            </a:r>
          </a:p>
        </p:txBody>
      </p:sp>
      <p:sp>
        <p:nvSpPr>
          <p:cNvPr id="7" name="subtitle-2">
            <a:extLst xmlns:a="http://schemas.openxmlformats.org/drawingml/2006/main">
              <a:ext uri="{FF2B5EF4-FFF2-40B4-BE49-F238E27FC236}">
                <a16:creationId xmlns:a16="http://schemas.microsoft.com/office/drawing/2014/main" id="{92F6F05D-1B3F-4842-9E6D-8C2C374D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1238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E6C82"/>
                </a:solidFill>
              </a:defRPr>
            </a:pPr>
            <a:r>
              <a:rPr sz="2250">
                <a:solidFill>
                  <a:srgbClr val="5E6C82"/>
                </a:solidFill>
              </a:rPr>
              <a:t>90 天只追三個可驗證的優先順序</a:t>
            </a:r>
          </a:p>
        </p:txBody>
      </p:sp>
      <p:sp>
        <p:nvSpPr>
          <p:cNvPr id="8" name="priority-0">
            <a:extLst xmlns:a="http://schemas.openxmlformats.org/drawingml/2006/main">
              <a:ext uri="{FF2B5EF4-FFF2-40B4-BE49-F238E27FC236}">
                <a16:creationId xmlns:a16="http://schemas.microsoft.com/office/drawing/2014/main" id="{BDFE95F8-703D-46E9-8382-9711BD51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10000"/>
            <a:ext cx="4000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19050">
            <a:solidFill>
              <a:srgbClr val="2E9E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49BE6-3B61-43B6-8303-D580D8BA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957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E9E9A"/>
                </a:solidFill>
              </a:defRPr>
            </a:pPr>
            <a:r>
              <a:rPr sz="2550" b="1">
                <a:solidFill>
                  <a:srgbClr val="2E9E9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42771-DE8D-48BA-B41C-4D7904F4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530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232E"/>
                </a:solidFill>
              </a:defRPr>
            </a:pPr>
            <a:r>
              <a:rPr sz="3600" b="1">
                <a:solidFill>
                  <a:srgbClr val="15232E"/>
                </a:solidFill>
              </a:rPr>
              <a:t>被看見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0DBA7-C779-47CF-8DFC-C2456859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05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C82"/>
                </a:solidFill>
              </a:defRPr>
            </a:pPr>
            <a:r>
              <a:rPr sz="2100">
                <a:solidFill>
                  <a:srgbClr val="5E6C82"/>
                </a:solidFill>
              </a:rPr>
              <a:t>在會發生對話的晚餐場景出現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D3751-EA31-462A-B426-4075C8AE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8389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iority-1">
            <a:extLst xmlns:a="http://schemas.openxmlformats.org/drawingml/2006/main">
              <a:ext uri="{FF2B5EF4-FFF2-40B4-BE49-F238E27FC236}">
                <a16:creationId xmlns:a16="http://schemas.microsoft.com/office/drawing/2014/main" id="{A9555AA8-B39B-4E46-B38E-04D8B55B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4000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19050">
            <a:solidFill>
              <a:srgbClr val="F08A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6A3F9-79AE-473D-8AEF-3B160D28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957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08A24"/>
                </a:solidFill>
              </a:defRPr>
            </a:pPr>
            <a:r>
              <a:rPr sz="2550" b="1">
                <a:solidFill>
                  <a:srgbClr val="F08A24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1E471-0979-4367-B497-362C0B59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530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232E"/>
                </a:solidFill>
              </a:defRPr>
            </a:pPr>
            <a:r>
              <a:rPr sz="3600" b="1">
                <a:solidFill>
                  <a:srgbClr val="15232E"/>
                </a:solidFill>
              </a:rPr>
              <a:t>被試喝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F722B-3991-4EF6-A077-1342D2F3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905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C82"/>
                </a:solidFill>
              </a:defRPr>
            </a:pPr>
            <a:r>
              <a:rPr sz="2100">
                <a:solidFill>
                  <a:srgbClr val="5E6C82"/>
                </a:solidFill>
              </a:rPr>
              <a:t>讓第一口成為低負擔的選擇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91403-73E6-4A6B-A372-13E94A1C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8389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iority-2">
            <a:extLst xmlns:a="http://schemas.openxmlformats.org/drawingml/2006/main">
              <a:ext uri="{FF2B5EF4-FFF2-40B4-BE49-F238E27FC236}">
                <a16:creationId xmlns:a16="http://schemas.microsoft.com/office/drawing/2014/main" id="{1AA71105-8AA8-4E6D-858C-6632DAB3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10000"/>
            <a:ext cx="4000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19050">
            <a:solidFill>
              <a:srgbClr val="1D6F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09222-2484-4ECF-9841-BD417582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0957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D6F70"/>
                </a:solidFill>
              </a:defRPr>
            </a:pPr>
            <a:r>
              <a:rPr sz="2550" b="1">
                <a:solidFill>
                  <a:srgbClr val="1D6F70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83217C-40B2-4640-A4A5-D8B3F192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5300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232E"/>
                </a:solidFill>
              </a:defRPr>
            </a:pPr>
            <a:r>
              <a:rPr sz="3600" b="1">
                <a:solidFill>
                  <a:srgbClr val="15232E"/>
                </a:solidFill>
              </a:rPr>
              <a:t>被帶回家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CE70CA-9ED6-466A-9A7C-9F1DCC2E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905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E6C82"/>
                </a:solidFill>
              </a:defRPr>
            </a:pPr>
            <a:r>
              <a:rPr sz="2100">
                <a:solidFill>
                  <a:srgbClr val="5E6C82"/>
                </a:solidFill>
              </a:rPr>
              <a:t>留下下一次購買的理由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70800-353B-4517-A687-5F70D536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8389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93CA9-A13B-4A4B-BF33-987A9CBE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096250"/>
            <a:ext cx="1143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6F70"/>
                </a:solidFill>
              </a:defRPr>
            </a:pPr>
            <a:r>
              <a:rPr sz="2100" b="1">
                <a:solidFill>
                  <a:srgbClr val="1D6F70"/>
                </a:solidFill>
              </a:rPr>
              <a:t>順序很重要：先讓產品發生，再讓市場看見。</a:t>
            </a:r>
          </a:p>
        </p:txBody>
      </p:sp>
    </p:spTree>
    <p:extLst>
      <p:ext uri="{BB962C8B-B14F-4D97-AF65-F5344CB8AC3E}">
        <p14:creationId xmlns:p14="http://schemas.microsoft.com/office/powerpoint/2010/main" val="579499003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4F7F8"/>
            </a:gs>
            <a:gs pos="100000">
              <a:srgbClr val="E8F0F1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ist-orb-3">
            <a:extLst xmlns:a="http://schemas.openxmlformats.org/drawingml/2006/main">
              <a:ext uri="{FF2B5EF4-FFF2-40B4-BE49-F238E27FC236}">
                <a16:creationId xmlns:a16="http://schemas.microsoft.com/office/drawing/2014/main" id="{7B607199-BF64-4451-BB47-9BC0E433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905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ED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ist-orb-lower-3">
            <a:extLst xmlns:a="http://schemas.openxmlformats.org/drawingml/2006/main">
              <a:ext uri="{FF2B5EF4-FFF2-40B4-BE49-F238E27FC236}">
                <a16:creationId xmlns:a16="http://schemas.microsoft.com/office/drawing/2014/main" id="{82F2C142-BAF7-4707-B05F-8B4C759A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01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DE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xis-3">
            <a:extLst xmlns:a="http://schemas.openxmlformats.org/drawingml/2006/main">
              <a:ext uri="{FF2B5EF4-FFF2-40B4-BE49-F238E27FC236}">
                <a16:creationId xmlns:a16="http://schemas.microsoft.com/office/drawing/2014/main" id="{74E65860-EE70-4371-B8C7-14CC6E1B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1543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3">
            <a:extLst xmlns:a="http://schemas.openxmlformats.org/drawingml/2006/main">
              <a:ext uri="{FF2B5EF4-FFF2-40B4-BE49-F238E27FC236}">
                <a16:creationId xmlns:a16="http://schemas.microsoft.com/office/drawing/2014/main" id="{D3057764-9A07-4C97-8699-96DC8D14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spc="2">
                <a:solidFill>
                  <a:srgbClr val="1D6F70"/>
                </a:solidFill>
              </a:defRPr>
            </a:pPr>
            <a:r>
              <a:rPr sz="1500" b="1" spc="2">
                <a:solidFill>
                  <a:srgbClr val="1D6F70"/>
                </a:solidFill>
              </a:rPr>
              <a:t>MIST POP / 90 DAY LAUNCH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DFC3DF8-6E6C-419F-A73D-0EEE95DE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715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E6C82"/>
                </a:solidFill>
              </a:defRPr>
            </a:pPr>
            <a:r>
              <a:rPr sz="1500" b="1">
                <a:solidFill>
                  <a:srgbClr val="5E6C82"/>
                </a:solidFill>
              </a:rPr>
              <a:t>03</a:t>
            </a:r>
          </a:p>
        </p:txBody>
      </p:sp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A9BB1445-8590-4B1D-BB28-26AE0BFC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6210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5232E"/>
                </a:solidFill>
              </a:defRPr>
            </a:pPr>
            <a:r>
              <a:rPr sz="5400" b="1">
                <a:solidFill>
                  <a:srgbClr val="15232E"/>
                </a:solidFill>
              </a:rPr>
              <a:t>我們切入的不是戒酒，而是更好的晚餐選擇</a:t>
            </a:r>
          </a:p>
        </p:txBody>
      </p:sp>
      <p:sp>
        <p:nvSpPr>
          <p:cNvPr id="7" name="subtitle-3">
            <a:extLst xmlns:a="http://schemas.openxmlformats.org/drawingml/2006/main">
              <a:ext uri="{FF2B5EF4-FFF2-40B4-BE49-F238E27FC236}">
                <a16:creationId xmlns:a16="http://schemas.microsoft.com/office/drawing/2014/main" id="{7F9CE3E9-40B3-499B-961A-7E8CACDE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1238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E6C82"/>
                </a:solidFill>
              </a:defRPr>
            </a:pPr>
            <a:r>
              <a:rPr sz="2250">
                <a:solidFill>
                  <a:srgbClr val="5E6C82"/>
                </a:solidFill>
              </a:rPr>
              <a:t>虛構示範洞察：把情境從限制改寫成選擇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1619250" y="3714750"/>
          <a:ext xmlns:a="http://schemas.openxmlformats.org/drawingml/2006/main" cx="1495425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953000"/>
                <a:gridCol w="4953000"/>
                <a:gridCol w="5048250"/>
              </a:tblGrid>
              <a:tr h="8096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晚餐時刻</a:t>
                      </a:r>
                    </a:p>
                  </a:txBody>
                  <a:tcPr marL="91440" marR="91440" marT="45720" marB="45720">
                    <a:solidFill>
                      <a:srgbClr val="152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原本的猶豫</a:t>
                      </a:r>
                    </a:p>
                  </a:txBody>
                  <a:tcPr marL="91440" marR="91440" marT="45720" marB="45720">
                    <a:solidFill>
                      <a:srgbClr val="1523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MIST POP 的回應</a:t>
                      </a:r>
                    </a:p>
                  </a:txBody>
                  <a:tcPr marL="91440" marR="91440" marT="45720" marB="45720">
                    <a:solidFill>
                      <a:srgbClr val="15232E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32E"/>
                          </a:solidFill>
                        </a:rPr>
                        <a:t>想要有儀式感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32E"/>
                          </a:solidFill>
                        </a:rPr>
                        <a:t>無酒精就像少了一點什麼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D6F70"/>
                          </a:solidFill>
                        </a:rPr>
                        <a:t>保留氣泡、香氣與舉杯動作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32E"/>
                          </a:solidFill>
                        </a:rPr>
                        <a:t>希望隔天清醒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32E"/>
                          </a:solidFill>
                        </a:rPr>
                        <a:t>不想為今晚的選擇付代價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D6F70"/>
                          </a:solidFill>
                        </a:rPr>
                        <a:t>喝完仍能自然接續明天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32E"/>
                          </a:solidFill>
                        </a:rPr>
                        <a:t>需要一款能分享的飲品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32E"/>
                          </a:solidFill>
                        </a:rPr>
                        <a:t>不想讓桌上出現兩種語氣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D6F70"/>
                          </a:solidFill>
                        </a:rPr>
                        <a:t>讓每個人都能一起加入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table-takeaway">
            <a:extLst xmlns:a="http://schemas.openxmlformats.org/drawingml/2006/main">
              <a:ext uri="{FF2B5EF4-FFF2-40B4-BE49-F238E27FC236}">
                <a16:creationId xmlns:a16="http://schemas.microsoft.com/office/drawing/2014/main" id="{37DA0490-55CD-40AA-90A7-089BDDFE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810500"/>
            <a:ext cx="1333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D6F70"/>
                </a:solidFill>
              </a:defRPr>
            </a:pPr>
            <a:r>
              <a:rPr sz="2325" b="1">
                <a:solidFill>
                  <a:srgbClr val="1D6F70"/>
                </a:solidFill>
              </a:rPr>
              <a:t>核心轉換：從「不能喝」改成「我想喝這個」。</a:t>
            </a:r>
          </a:p>
        </p:txBody>
      </p:sp>
    </p:spTree>
    <p:extLst>
      <p:ext uri="{BB962C8B-B14F-4D97-AF65-F5344CB8AC3E}">
        <p14:creationId xmlns:p14="http://schemas.microsoft.com/office/powerpoint/2010/main" val="1499991257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4F7F8"/>
            </a:gs>
            <a:gs pos="100000">
              <a:srgbClr val="E8F0F1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mist-orb-4">
            <a:extLst xmlns:a="http://schemas.openxmlformats.org/drawingml/2006/main">
              <a:ext uri="{FF2B5EF4-FFF2-40B4-BE49-F238E27FC236}">
                <a16:creationId xmlns:a16="http://schemas.microsoft.com/office/drawing/2014/main" id="{2C60165C-2D79-47ED-B69A-D0E64EE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905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ED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ist-orb-lower-4">
            <a:extLst xmlns:a="http://schemas.openxmlformats.org/drawingml/2006/main">
              <a:ext uri="{FF2B5EF4-FFF2-40B4-BE49-F238E27FC236}">
                <a16:creationId xmlns:a16="http://schemas.microsoft.com/office/drawing/2014/main" id="{2DB15C5F-8FCF-49DA-A326-E2E42582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01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DE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xis-4">
            <a:extLst xmlns:a="http://schemas.openxmlformats.org/drawingml/2006/main">
              <a:ext uri="{FF2B5EF4-FFF2-40B4-BE49-F238E27FC236}">
                <a16:creationId xmlns:a16="http://schemas.microsoft.com/office/drawing/2014/main" id="{68704897-9D43-4CFC-8146-0F4DC343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1543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4">
            <a:extLst xmlns:a="http://schemas.openxmlformats.org/drawingml/2006/main">
              <a:ext uri="{FF2B5EF4-FFF2-40B4-BE49-F238E27FC236}">
                <a16:creationId xmlns:a16="http://schemas.microsoft.com/office/drawing/2014/main" id="{613405AF-24C2-4741-9E17-96DAFE03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spc="2">
                <a:solidFill>
                  <a:srgbClr val="1D6F70"/>
                </a:solidFill>
              </a:defRPr>
            </a:pPr>
            <a:r>
              <a:rPr sz="1500" b="1" spc="2">
                <a:solidFill>
                  <a:srgbClr val="1D6F70"/>
                </a:solidFill>
              </a:rPr>
              <a:t>MIST POP / 90 DAY LAUNCH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4CB21332-1503-4441-90A9-B361428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715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E6C82"/>
                </a:solidFill>
              </a:defRPr>
            </a:pPr>
            <a:r>
              <a:rPr sz="1500" b="1">
                <a:solidFill>
                  <a:srgbClr val="5E6C82"/>
                </a:solidFill>
              </a:rPr>
              <a:t>04</a:t>
            </a:r>
          </a:p>
        </p:txBody>
      </p:sp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8EE1ECCA-F0FC-4CE5-97AC-72D1A57F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6210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5232E"/>
                </a:solidFill>
              </a:defRPr>
            </a:pPr>
            <a:r>
              <a:rPr sz="5400" b="1">
                <a:solidFill>
                  <a:srgbClr val="15232E"/>
                </a:solidFill>
              </a:rPr>
              <a:t>產品先解決一個瞬間：舉杯時不必解釋</a:t>
            </a:r>
          </a:p>
        </p:txBody>
      </p:sp>
      <p:sp>
        <p:nvSpPr>
          <p:cNvPr id="7" name="subtitle-4">
            <a:extLst xmlns:a="http://schemas.openxmlformats.org/drawingml/2006/main">
              <a:ext uri="{FF2B5EF4-FFF2-40B4-BE49-F238E27FC236}">
                <a16:creationId xmlns:a16="http://schemas.microsoft.com/office/drawing/2014/main" id="{4F24A5D3-5BFB-4E27-A021-4B73FEBF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1238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E6C82"/>
                </a:solidFill>
              </a:defRPr>
            </a:pPr>
            <a:r>
              <a:rPr sz="2250">
                <a:solidFill>
                  <a:srgbClr val="5E6C82"/>
                </a:solidFill>
              </a:rPr>
              <a:t>從味覺到語氣，形成一條可被記住的體驗鏈</a:t>
            </a:r>
          </a:p>
        </p:txBody>
      </p:sp>
      <p:sp>
        <p:nvSpPr>
          <p:cNvPr id="8" name="flow-link-0">
            <a:extLst xmlns:a="http://schemas.openxmlformats.org/drawingml/2006/main">
              <a:ext uri="{FF2B5EF4-FFF2-40B4-BE49-F238E27FC236}">
                <a16:creationId xmlns:a16="http://schemas.microsoft.com/office/drawing/2014/main" id="{28E5BFFF-889D-4C1E-9D00-107732D6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292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F37CA1F4-7E73-4C86-9A02-EE4A90BF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314950"/>
            <a:ext cx="1905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dot-0">
            <a:extLst xmlns:a="http://schemas.openxmlformats.org/drawingml/2006/main">
              <a:ext uri="{FF2B5EF4-FFF2-40B4-BE49-F238E27FC236}">
                <a16:creationId xmlns:a16="http://schemas.microsoft.com/office/drawing/2014/main" id="{08F4DF88-2278-4D6A-BBCA-B02A0D11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911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5DC0B-1274-41E2-AFCA-A46E22C8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19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52891-DD3C-44F5-95EA-92642B87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286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5232E"/>
                </a:solidFill>
              </a:defRPr>
            </a:pPr>
            <a:r>
              <a:rPr sz="2400" b="1">
                <a:solidFill>
                  <a:srgbClr val="15232E"/>
                </a:solidFill>
              </a:rPr>
              <a:t>清爽入口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B75B7-6590-4049-B842-04173F9C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9532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E6C82"/>
                </a:solidFill>
              </a:defRPr>
            </a:pPr>
            <a:r>
              <a:rPr sz="1800">
                <a:solidFill>
                  <a:srgbClr val="5E6C82"/>
                </a:solidFill>
              </a:rPr>
              <a:t>第一口先讓人放鬆</a:t>
            </a:r>
          </a:p>
        </p:txBody>
      </p:sp>
      <p:sp>
        <p:nvSpPr>
          <p:cNvPr id="14" name="flow-link-1">
            <a:extLst xmlns:a="http://schemas.openxmlformats.org/drawingml/2006/main">
              <a:ext uri="{FF2B5EF4-FFF2-40B4-BE49-F238E27FC236}">
                <a16:creationId xmlns:a16="http://schemas.microsoft.com/office/drawing/2014/main" id="{F2546DCD-7139-42E5-93AB-A9AF7EE2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292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FA10B716-C64D-4650-BB7D-0368FF3A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314950"/>
            <a:ext cx="1905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dot-1">
            <a:extLst xmlns:a="http://schemas.openxmlformats.org/drawingml/2006/main">
              <a:ext uri="{FF2B5EF4-FFF2-40B4-BE49-F238E27FC236}">
                <a16:creationId xmlns:a16="http://schemas.microsoft.com/office/drawing/2014/main" id="{F5750155-A363-4032-B8A3-1E4AB7B1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911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4E4BD-0D29-4EF6-80D8-ECE62C1C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19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7FC0EA-ECF4-4D8C-8D87-C469BEED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286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5232E"/>
                </a:solidFill>
              </a:defRPr>
            </a:pPr>
            <a:r>
              <a:rPr sz="2400" b="1">
                <a:solidFill>
                  <a:srgbClr val="15232E"/>
                </a:solidFill>
              </a:rPr>
              <a:t>低負擔選擇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CA260-73C2-4285-A25C-182D573F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9532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E6C82"/>
                </a:solidFill>
              </a:defRPr>
            </a:pPr>
            <a:r>
              <a:rPr sz="1800">
                <a:solidFill>
                  <a:srgbClr val="5E6C82"/>
                </a:solidFill>
              </a:rPr>
              <a:t>不用重新安排明天</a:t>
            </a:r>
          </a:p>
        </p:txBody>
      </p:sp>
      <p:sp>
        <p:nvSpPr>
          <p:cNvPr id="20" name="flow-link-2">
            <a:extLst xmlns:a="http://schemas.openxmlformats.org/drawingml/2006/main">
              <a:ext uri="{FF2B5EF4-FFF2-40B4-BE49-F238E27FC236}">
                <a16:creationId xmlns:a16="http://schemas.microsoft.com/office/drawing/2014/main" id="{396BF1F7-5199-4E83-9E66-9062B17F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4292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7B6F2073-A95F-4A23-8745-14DABC34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5314950"/>
            <a:ext cx="19050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low-dot-2">
            <a:extLst xmlns:a="http://schemas.openxmlformats.org/drawingml/2006/main">
              <a:ext uri="{FF2B5EF4-FFF2-40B4-BE49-F238E27FC236}">
                <a16:creationId xmlns:a16="http://schemas.microsoft.com/office/drawing/2014/main" id="{DA44807B-DB1D-46F8-A8C5-88230744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9911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95533-7B3B-485A-A8FF-3065C2DD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219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FE911E-BD81-4A28-849B-BAFA7633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286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5232E"/>
                </a:solidFill>
              </a:defRPr>
            </a:pPr>
            <a:r>
              <a:rPr sz="2400" b="1">
                <a:solidFill>
                  <a:srgbClr val="15232E"/>
                </a:solidFill>
              </a:rPr>
              <a:t>自然加入餐桌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FD6E47-AEDF-452A-B578-175777DB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532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E6C82"/>
                </a:solidFill>
              </a:defRPr>
            </a:pPr>
            <a:r>
              <a:rPr sz="1800">
                <a:solidFill>
                  <a:srgbClr val="5E6C82"/>
                </a:solidFill>
              </a:rPr>
              <a:t>不必另外說明自己</a:t>
            </a:r>
          </a:p>
        </p:txBody>
      </p:sp>
      <p:sp>
        <p:nvSpPr>
          <p:cNvPr id="26" name="flow-dot-3">
            <a:extLst xmlns:a="http://schemas.openxmlformats.org/drawingml/2006/main">
              <a:ext uri="{FF2B5EF4-FFF2-40B4-BE49-F238E27FC236}">
                <a16:creationId xmlns:a16="http://schemas.microsoft.com/office/drawing/2014/main" id="{3D8C7F5A-929A-451E-B77E-1EFE472A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49911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FF6F28-9B7A-4F07-9B51-7E4BE731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52197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846437-7834-4461-BC97-558E55A6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286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5232E"/>
                </a:solidFill>
              </a:defRPr>
            </a:pPr>
            <a:r>
              <a:rPr sz="2400" b="1">
                <a:solidFill>
                  <a:srgbClr val="15232E"/>
                </a:solidFill>
              </a:rPr>
              <a:t>願意再次購買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1D35A3-22A1-44E6-9074-88CF9AD4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9532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E6C82"/>
                </a:solidFill>
              </a:defRPr>
            </a:pPr>
            <a:r>
              <a:rPr sz="1800">
                <a:solidFill>
                  <a:srgbClr val="5E6C82"/>
                </a:solidFill>
              </a:rPr>
              <a:t>把好感變成習慣</a:t>
            </a:r>
          </a:p>
        </p:txBody>
      </p:sp>
    </p:spTree>
    <p:extLst>
      <p:ext uri="{BB962C8B-B14F-4D97-AF65-F5344CB8AC3E}">
        <p14:creationId xmlns:p14="http://schemas.microsoft.com/office/powerpoint/2010/main" val="1705113403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4F7F8"/>
            </a:gs>
            <a:gs pos="100000">
              <a:srgbClr val="E8F0F1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ist-orb-5">
            <a:extLst xmlns:a="http://schemas.openxmlformats.org/drawingml/2006/main">
              <a:ext uri="{FF2B5EF4-FFF2-40B4-BE49-F238E27FC236}">
                <a16:creationId xmlns:a16="http://schemas.microsoft.com/office/drawing/2014/main" id="{649AAB89-3210-47A8-919D-881676D1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905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ED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ist-orb-lower-5">
            <a:extLst xmlns:a="http://schemas.openxmlformats.org/drawingml/2006/main">
              <a:ext uri="{FF2B5EF4-FFF2-40B4-BE49-F238E27FC236}">
                <a16:creationId xmlns:a16="http://schemas.microsoft.com/office/drawing/2014/main" id="{05B0A229-E694-4B03-9DAB-8A7D2961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01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DE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xis-5">
            <a:extLst xmlns:a="http://schemas.openxmlformats.org/drawingml/2006/main">
              <a:ext uri="{FF2B5EF4-FFF2-40B4-BE49-F238E27FC236}">
                <a16:creationId xmlns:a16="http://schemas.microsoft.com/office/drawing/2014/main" id="{6E443D8E-98C0-46C7-9AF3-91DB8148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1543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5">
            <a:extLst xmlns:a="http://schemas.openxmlformats.org/drawingml/2006/main">
              <a:ext uri="{FF2B5EF4-FFF2-40B4-BE49-F238E27FC236}">
                <a16:creationId xmlns:a16="http://schemas.microsoft.com/office/drawing/2014/main" id="{0474CF11-BE9D-43B3-A58A-E2AC02F5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spc="2">
                <a:solidFill>
                  <a:srgbClr val="1D6F70"/>
                </a:solidFill>
              </a:defRPr>
            </a:pPr>
            <a:r>
              <a:rPr sz="1500" b="1" spc="2">
                <a:solidFill>
                  <a:srgbClr val="1D6F70"/>
                </a:solidFill>
              </a:rPr>
              <a:t>MIST POP / 90 DAY LAUNCH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53811882-E30B-478F-BC93-A2369A74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715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E6C82"/>
                </a:solidFill>
              </a:defRPr>
            </a:pPr>
            <a:r>
              <a:rPr sz="1500" b="1">
                <a:solidFill>
                  <a:srgbClr val="5E6C82"/>
                </a:solidFill>
              </a:rPr>
              <a:t>05</a:t>
            </a:r>
          </a:p>
        </p:txBody>
      </p:sp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7CB54C19-7E73-4418-9C6E-C1E4E649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6210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5232E"/>
                </a:solidFill>
              </a:defRPr>
            </a:pPr>
            <a:r>
              <a:rPr sz="5400" b="1">
                <a:solidFill>
                  <a:srgbClr val="15232E"/>
                </a:solidFill>
              </a:rPr>
              <a:t>兩款口味，剛好覆蓋第一個週末</a:t>
            </a:r>
          </a:p>
        </p:txBody>
      </p:sp>
      <p:sp>
        <p:nvSpPr>
          <p:cNvPr id="7" name="subtitle-5">
            <a:extLst xmlns:a="http://schemas.openxmlformats.org/drawingml/2006/main">
              <a:ext uri="{FF2B5EF4-FFF2-40B4-BE49-F238E27FC236}">
                <a16:creationId xmlns:a16="http://schemas.microsoft.com/office/drawing/2014/main" id="{84717C5A-8832-40F2-BCEB-7FD0AF50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1238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E6C82"/>
                </a:solidFill>
              </a:defRPr>
            </a:pPr>
            <a:r>
              <a:rPr sz="2250">
                <a:solidFill>
                  <a:srgbClr val="5E6C82"/>
                </a:solidFill>
              </a:rPr>
              <a:t>虛構首波產品組合與體驗訊號</a:t>
            </a:r>
          </a:p>
        </p:txBody>
      </p:sp>
      <p:sp>
        <p:nvSpPr>
          <p:cNvPr id="8" name="kpi-card-0">
            <a:extLst xmlns:a="http://schemas.openxmlformats.org/drawingml/2006/main">
              <a:ext uri="{FF2B5EF4-FFF2-40B4-BE49-F238E27FC236}">
                <a16:creationId xmlns:a16="http://schemas.microsoft.com/office/drawing/2014/main" id="{1570ABEA-3858-49D7-A995-57A27976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4095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9050">
            <a:solidFill>
              <a:srgbClr val="2E9E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D85A2-16B7-43D9-ACA8-7666DD50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386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E6C82"/>
                </a:solidFill>
              </a:defRPr>
            </a:pPr>
            <a:r>
              <a:rPr sz="2250" b="1">
                <a:solidFill>
                  <a:srgbClr val="5E6C82"/>
                </a:solidFill>
              </a:rPr>
              <a:t>青檸薄荷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27875-2908-4005-8119-92D3DE1F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05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2E9E9A"/>
                </a:solidFill>
              </a:defRPr>
            </a:pPr>
            <a:r>
              <a:rPr sz="6150" b="1">
                <a:solidFill>
                  <a:srgbClr val="2E9E9A"/>
                </a:solidFill>
              </a:rPr>
              <a:t>55%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86E60-C06C-4246-AE5F-5548BA79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91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5232E"/>
                </a:solidFill>
              </a:defRPr>
            </a:pPr>
            <a:r>
              <a:rPr sz="1875">
                <a:solidFill>
                  <a:srgbClr val="15232E"/>
                </a:solidFill>
              </a:rPr>
              <a:t>清爽、俐落</a:t>
            </a:r>
          </a:p>
        </p:txBody>
      </p:sp>
      <p:sp>
        <p:nvSpPr>
          <p:cNvPr id="12" name="kpi-card-1">
            <a:extLst xmlns:a="http://schemas.openxmlformats.org/drawingml/2006/main">
              <a:ext uri="{FF2B5EF4-FFF2-40B4-BE49-F238E27FC236}">
                <a16:creationId xmlns:a16="http://schemas.microsoft.com/office/drawing/2014/main" id="{BE94BB49-BB90-41A3-A69E-8D8FB510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4095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9050">
            <a:solidFill>
              <a:srgbClr val="F08A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2892F-9408-4CE9-B44C-124ECFF3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386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E6C82"/>
                </a:solidFill>
              </a:defRPr>
            </a:pPr>
            <a:r>
              <a:rPr sz="2250" b="1">
                <a:solidFill>
                  <a:srgbClr val="5E6C82"/>
                </a:solidFill>
              </a:rPr>
              <a:t>白桃烏龍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B058F-8802-4077-9BA7-E6231480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05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08A24"/>
                </a:solidFill>
              </a:defRPr>
            </a:pPr>
            <a:r>
              <a:rPr sz="6150" b="1">
                <a:solidFill>
                  <a:srgbClr val="F08A24"/>
                </a:solidFill>
              </a:rPr>
              <a:t>45%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4F635-9F18-4A9D-B7C8-E6E30967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91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5232E"/>
                </a:solidFill>
              </a:defRPr>
            </a:pPr>
            <a:r>
              <a:rPr sz="1875">
                <a:solidFill>
                  <a:srgbClr val="15232E"/>
                </a:solidFill>
              </a:rPr>
              <a:t>柔和、有香氣</a:t>
            </a:r>
          </a:p>
        </p:txBody>
      </p:sp>
      <p:sp>
        <p:nvSpPr>
          <p:cNvPr id="16" name="kpi-card-2">
            <a:extLst xmlns:a="http://schemas.openxmlformats.org/drawingml/2006/main">
              <a:ext uri="{FF2B5EF4-FFF2-40B4-BE49-F238E27FC236}">
                <a16:creationId xmlns:a16="http://schemas.microsoft.com/office/drawing/2014/main" id="{9FF8CACB-8741-4A0F-914B-ECE69FB0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05250"/>
            <a:ext cx="4095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DEBED">
              <a:alpha val="90000"/>
            </a:srgbClr>
          </a:solidFill>
          <a:ln xmlns:a="http://schemas.openxmlformats.org/drawingml/2006/main" w="19050">
            <a:solidFill>
              <a:srgbClr val="1D6F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E7A0B-7606-4FE1-8557-BE1406C8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2386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E6C82"/>
                </a:solidFill>
              </a:defRPr>
            </a:pPr>
            <a:r>
              <a:rPr sz="2250" b="1">
                <a:solidFill>
                  <a:srgbClr val="5E6C82"/>
                </a:solidFill>
              </a:rPr>
              <a:t>回購訊號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78C1C-A063-466A-B2C4-28955F74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0537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D6F70"/>
                </a:solidFill>
              </a:defRPr>
            </a:pPr>
            <a:r>
              <a:rPr sz="6150" b="1">
                <a:solidFill>
                  <a:srgbClr val="1D6F70"/>
                </a:solidFill>
              </a:rPr>
              <a:t>28%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98468-1BD8-47BA-B823-63A0B4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191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5232E"/>
                </a:solidFill>
              </a:defRPr>
            </a:pPr>
            <a:r>
              <a:rPr sz="1875">
                <a:solidFill>
                  <a:srgbClr val="15232E"/>
                </a:solidFill>
              </a:rPr>
              <a:t>先看第二次選擇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E7C965-661F-4972-A0AB-9E470057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858125"/>
            <a:ext cx="1238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D6F70"/>
                </a:solidFill>
              </a:defRPr>
            </a:pPr>
            <a:r>
              <a:rPr sz="2325" b="1">
                <a:solidFill>
                  <a:srgbClr val="1D6F70"/>
                </a:solidFill>
              </a:rPr>
              <a:t>組合原則：一款負責清醒，一款負責氣氛。</a:t>
            </a:r>
          </a:p>
        </p:txBody>
      </p:sp>
    </p:spTree>
    <p:extLst>
      <p:ext uri="{BB962C8B-B14F-4D97-AF65-F5344CB8AC3E}">
        <p14:creationId xmlns:p14="http://schemas.microsoft.com/office/powerpoint/2010/main" val="13341037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4F7F8"/>
            </a:gs>
            <a:gs pos="100000">
              <a:srgbClr val="E8F0F1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mist-orb-6">
            <a:extLst xmlns:a="http://schemas.openxmlformats.org/drawingml/2006/main">
              <a:ext uri="{FF2B5EF4-FFF2-40B4-BE49-F238E27FC236}">
                <a16:creationId xmlns:a16="http://schemas.microsoft.com/office/drawing/2014/main" id="{9C61303D-51FC-4BF6-B139-F2341525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905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ED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ist-orb-lower-6">
            <a:extLst xmlns:a="http://schemas.openxmlformats.org/drawingml/2006/main">
              <a:ext uri="{FF2B5EF4-FFF2-40B4-BE49-F238E27FC236}">
                <a16:creationId xmlns:a16="http://schemas.microsoft.com/office/drawing/2014/main" id="{F89E1654-53F2-4021-B1F9-C96B5518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01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DE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xis-6">
            <a:extLst xmlns:a="http://schemas.openxmlformats.org/drawingml/2006/main">
              <a:ext uri="{FF2B5EF4-FFF2-40B4-BE49-F238E27FC236}">
                <a16:creationId xmlns:a16="http://schemas.microsoft.com/office/drawing/2014/main" id="{ECF4B808-E5AC-4360-A706-791661B7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1543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6">
            <a:extLst xmlns:a="http://schemas.openxmlformats.org/drawingml/2006/main">
              <a:ext uri="{FF2B5EF4-FFF2-40B4-BE49-F238E27FC236}">
                <a16:creationId xmlns:a16="http://schemas.microsoft.com/office/drawing/2014/main" id="{FF1793CF-3C91-4FCC-9BA9-5BB7D66F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spc="2">
                <a:solidFill>
                  <a:srgbClr val="1D6F70"/>
                </a:solidFill>
              </a:defRPr>
            </a:pPr>
            <a:r>
              <a:rPr sz="1500" b="1" spc="2">
                <a:solidFill>
                  <a:srgbClr val="1D6F70"/>
                </a:solidFill>
              </a:rPr>
              <a:t>MIST POP / 90 DAY LAUNCH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EF6F042A-9921-462C-8B35-E8438932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715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E6C82"/>
                </a:solidFill>
              </a:defRPr>
            </a:pPr>
            <a:r>
              <a:rPr sz="1500" b="1">
                <a:solidFill>
                  <a:srgbClr val="5E6C82"/>
                </a:solidFill>
              </a:rPr>
              <a:t>06</a:t>
            </a:r>
          </a:p>
        </p:txBody>
      </p:sp>
      <p:sp>
        <p:nvSpPr>
          <p:cNvPr id="6" name="title-6">
            <a:extLst xmlns:a="http://schemas.openxmlformats.org/drawingml/2006/main">
              <a:ext uri="{FF2B5EF4-FFF2-40B4-BE49-F238E27FC236}">
                <a16:creationId xmlns:a16="http://schemas.microsoft.com/office/drawing/2014/main" id="{54F39254-6723-4F82-9A22-77686ABF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6210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5232E"/>
                </a:solidFill>
              </a:defRPr>
            </a:pPr>
            <a:r>
              <a:rPr sz="5400" b="1">
                <a:solidFill>
                  <a:srgbClr val="15232E"/>
                </a:solidFill>
              </a:rPr>
              <a:t>先進入會發生對話的地方</a:t>
            </a:r>
          </a:p>
        </p:txBody>
      </p:sp>
      <p:sp>
        <p:nvSpPr>
          <p:cNvPr id="7" name="subtitle-6">
            <a:extLst xmlns:a="http://schemas.openxmlformats.org/drawingml/2006/main">
              <a:ext uri="{FF2B5EF4-FFF2-40B4-BE49-F238E27FC236}">
                <a16:creationId xmlns:a16="http://schemas.microsoft.com/office/drawing/2014/main" id="{28C2E1F6-3BB8-46D4-8467-36145C06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1238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E6C82"/>
                </a:solidFill>
              </a:defRPr>
            </a:pPr>
            <a:r>
              <a:rPr sz="2250">
                <a:solidFill>
                  <a:srgbClr val="5E6C82"/>
                </a:solidFill>
              </a:rPr>
              <a:t>通路以體驗密度與可追蹤性排序</a:t>
            </a:r>
          </a:p>
        </p:txBody>
      </p:sp>
      <p:sp>
        <p:nvSpPr>
          <p:cNvPr id="8" name="matrix-field">
            <a:extLst xmlns:a="http://schemas.openxmlformats.org/drawingml/2006/main">
              <a:ext uri="{FF2B5EF4-FFF2-40B4-BE49-F238E27FC236}">
                <a16:creationId xmlns:a16="http://schemas.microsoft.com/office/drawing/2014/main" id="{4693455B-4A46-42D8-8F1E-CBFBAF87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106680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9050">
            <a:solidFill>
              <a:srgbClr val="B7CDD1"/>
            </a:solidFill>
            <a:prstDash val="solid"/>
          </a:ln>
        </p:spPr>
      </p:sp>
      <p:sp>
        <p:nvSpPr>
          <p:cNvPr id="9" name="matrix-y">
            <a:extLst xmlns:a="http://schemas.openxmlformats.org/drawingml/2006/main">
              <a:ext uri="{FF2B5EF4-FFF2-40B4-BE49-F238E27FC236}">
                <a16:creationId xmlns:a16="http://schemas.microsoft.com/office/drawing/2014/main" id="{F82E2B67-714B-49A3-ADC9-91079461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2857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trix-x">
            <a:extLst xmlns:a="http://schemas.openxmlformats.org/drawingml/2006/main">
              <a:ext uri="{FF2B5EF4-FFF2-40B4-BE49-F238E27FC236}">
                <a16:creationId xmlns:a16="http://schemas.microsoft.com/office/drawing/2014/main" id="{BFECA865-F834-485F-BBC4-2D4D6EBE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245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746E2-2B0A-4579-BA10-68192159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D6F70"/>
                </a:solidFill>
              </a:defRPr>
            </a:pPr>
            <a:r>
              <a:rPr sz="1875" b="1">
                <a:solidFill>
                  <a:srgbClr val="1D6F70"/>
                </a:solidFill>
              </a:rPr>
              <a:t>高體驗密度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1AEEF-BC61-4698-80FC-2930D2CB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8286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D6F70"/>
                </a:solidFill>
              </a:defRPr>
            </a:pPr>
            <a:r>
              <a:rPr sz="1875" b="1">
                <a:solidFill>
                  <a:srgbClr val="1D6F70"/>
                </a:solidFill>
              </a:rPr>
              <a:t>高可追蹤性</a:t>
            </a:r>
          </a:p>
        </p:txBody>
      </p:sp>
      <p:sp>
        <p:nvSpPr>
          <p:cNvPr id="13" name="matrix-dot-0">
            <a:extLst xmlns:a="http://schemas.openxmlformats.org/drawingml/2006/main">
              <a:ext uri="{FF2B5EF4-FFF2-40B4-BE49-F238E27FC236}">
                <a16:creationId xmlns:a16="http://schemas.microsoft.com/office/drawing/2014/main" id="{4F5AD293-3A4C-4177-B675-3E8C3F1F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4100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5D657-0456-4C5E-8BD4-1205C844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4291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E9E9A"/>
                </a:solidFill>
              </a:defRPr>
            </a:pPr>
            <a:r>
              <a:rPr sz="1875" b="1">
                <a:solidFill>
                  <a:srgbClr val="2E9E9A"/>
                </a:solidFill>
              </a:rPr>
              <a:t>餐酒館合作</a:t>
            </a:r>
          </a:p>
        </p:txBody>
      </p:sp>
      <p:sp>
        <p:nvSpPr>
          <p:cNvPr id="15" name="matrix-dot-1">
            <a:extLst xmlns:a="http://schemas.openxmlformats.org/drawingml/2006/main">
              <a:ext uri="{FF2B5EF4-FFF2-40B4-BE49-F238E27FC236}">
                <a16:creationId xmlns:a16="http://schemas.microsoft.com/office/drawing/2014/main" id="{6DE4AFA7-F5B2-4E98-939B-050BBC84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2B196-4581-44DB-BFF2-EAE26E0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72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08A24"/>
                </a:solidFill>
              </a:defRPr>
            </a:pPr>
            <a:r>
              <a:rPr sz="1875" b="1">
                <a:solidFill>
                  <a:srgbClr val="F08A24"/>
                </a:solidFill>
              </a:rPr>
              <a:t>選物店試飲</a:t>
            </a:r>
          </a:p>
        </p:txBody>
      </p:sp>
      <p:sp>
        <p:nvSpPr>
          <p:cNvPr id="17" name="matrix-dot-2">
            <a:extLst xmlns:a="http://schemas.openxmlformats.org/drawingml/2006/main">
              <a:ext uri="{FF2B5EF4-FFF2-40B4-BE49-F238E27FC236}">
                <a16:creationId xmlns:a16="http://schemas.microsoft.com/office/drawing/2014/main" id="{D3D302DF-805D-4EAF-A490-024DC2EC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7913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FDBD5-4C71-46E5-9D26-C0D6EB00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8103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D6F70"/>
                </a:solidFill>
              </a:defRPr>
            </a:pPr>
            <a:r>
              <a:rPr sz="1875" b="1">
                <a:solidFill>
                  <a:srgbClr val="1D6F70"/>
                </a:solidFill>
              </a:rPr>
              <a:t>電商組合包</a:t>
            </a:r>
          </a:p>
        </p:txBody>
      </p:sp>
      <p:sp>
        <p:nvSpPr>
          <p:cNvPr id="19" name="matrix-dot-3">
            <a:extLst xmlns:a="http://schemas.openxmlformats.org/drawingml/2006/main">
              <a:ext uri="{FF2B5EF4-FFF2-40B4-BE49-F238E27FC236}">
                <a16:creationId xmlns:a16="http://schemas.microsoft.com/office/drawing/2014/main" id="{C172EF37-AFA7-4544-933E-B9DC42B0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93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D150F-B78C-4D88-B060-7D56D656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953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E6C82"/>
                </a:solidFill>
              </a:defRPr>
            </a:pPr>
            <a:r>
              <a:rPr sz="1875" b="1">
                <a:solidFill>
                  <a:srgbClr val="5E6C82"/>
                </a:solidFill>
              </a:rPr>
              <a:t>大型量販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649B6-73D1-4BAB-BD55-D498E708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667750"/>
            <a:ext cx="1285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32E"/>
                </a:solidFill>
              </a:defRPr>
            </a:pPr>
            <a:r>
              <a:rPr sz="2250" b="1">
                <a:solidFill>
                  <a:srgbClr val="15232E"/>
                </a:solidFill>
              </a:rPr>
              <a:t>第一波先做右上角：每次接觸都能留下可回看的訊號。</a:t>
            </a:r>
          </a:p>
        </p:txBody>
      </p:sp>
    </p:spTree>
    <p:extLst>
      <p:ext uri="{BB962C8B-B14F-4D97-AF65-F5344CB8AC3E}">
        <p14:creationId xmlns:p14="http://schemas.microsoft.com/office/powerpoint/2010/main" val="75537757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4F7F8"/>
            </a:gs>
            <a:gs pos="100000">
              <a:srgbClr val="E8F0F1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ist-orb-7">
            <a:extLst xmlns:a="http://schemas.openxmlformats.org/drawingml/2006/main">
              <a:ext uri="{FF2B5EF4-FFF2-40B4-BE49-F238E27FC236}">
                <a16:creationId xmlns:a16="http://schemas.microsoft.com/office/drawing/2014/main" id="{0B500D59-E52F-4EB3-B5B6-F577CA96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905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ED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ist-orb-lower-7">
            <a:extLst xmlns:a="http://schemas.openxmlformats.org/drawingml/2006/main">
              <a:ext uri="{FF2B5EF4-FFF2-40B4-BE49-F238E27FC236}">
                <a16:creationId xmlns:a16="http://schemas.microsoft.com/office/drawing/2014/main" id="{F961BB80-DAA1-4772-A852-C4BA6814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01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DE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xis-7">
            <a:extLst xmlns:a="http://schemas.openxmlformats.org/drawingml/2006/main">
              <a:ext uri="{FF2B5EF4-FFF2-40B4-BE49-F238E27FC236}">
                <a16:creationId xmlns:a16="http://schemas.microsoft.com/office/drawing/2014/main" id="{E09EB200-36FB-437B-B28C-188C0C40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1543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7">
            <a:extLst xmlns:a="http://schemas.openxmlformats.org/drawingml/2006/main">
              <a:ext uri="{FF2B5EF4-FFF2-40B4-BE49-F238E27FC236}">
                <a16:creationId xmlns:a16="http://schemas.microsoft.com/office/drawing/2014/main" id="{ABFAB4E2-E1DF-4F62-AD38-877EF8FB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spc="2">
                <a:solidFill>
                  <a:srgbClr val="1D6F70"/>
                </a:solidFill>
              </a:defRPr>
            </a:pPr>
            <a:r>
              <a:rPr sz="1500" b="1" spc="2">
                <a:solidFill>
                  <a:srgbClr val="1D6F70"/>
                </a:solidFill>
              </a:rPr>
              <a:t>MIST POP / 90 DAY LAUNCH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A4FCE834-9E20-49C4-9463-0B7F1456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715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E6C82"/>
                </a:solidFill>
              </a:defRPr>
            </a:pPr>
            <a:r>
              <a:rPr sz="1500" b="1">
                <a:solidFill>
                  <a:srgbClr val="5E6C82"/>
                </a:solidFill>
              </a:rPr>
              <a:t>07</a:t>
            </a:r>
          </a:p>
        </p:txBody>
      </p:sp>
      <p:sp>
        <p:nvSpPr>
          <p:cNvPr id="6" name="title-7">
            <a:extLst xmlns:a="http://schemas.openxmlformats.org/drawingml/2006/main">
              <a:ext uri="{FF2B5EF4-FFF2-40B4-BE49-F238E27FC236}">
                <a16:creationId xmlns:a16="http://schemas.microsoft.com/office/drawing/2014/main" id="{CAC13B1A-5CDD-4E3A-9A06-F75C0C07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6210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5232E"/>
                </a:solidFill>
              </a:defRPr>
            </a:pPr>
            <a:r>
              <a:rPr sz="5400" b="1">
                <a:solidFill>
                  <a:srgbClr val="15232E"/>
                </a:solidFill>
              </a:rPr>
              <a:t>每一個觸點，都要留下下一次購買的理由</a:t>
            </a:r>
          </a:p>
        </p:txBody>
      </p:sp>
      <p:sp>
        <p:nvSpPr>
          <p:cNvPr id="7" name="subtitle-7">
            <a:extLst xmlns:a="http://schemas.openxmlformats.org/drawingml/2006/main">
              <a:ext uri="{FF2B5EF4-FFF2-40B4-BE49-F238E27FC236}">
                <a16:creationId xmlns:a16="http://schemas.microsoft.com/office/drawing/2014/main" id="{A17D4B0A-B671-4D9C-ACD3-3B1BA71B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1238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E6C82"/>
                </a:solidFill>
              </a:defRPr>
            </a:pPr>
            <a:r>
              <a:rPr sz="2250">
                <a:solidFill>
                  <a:srgbClr val="5E6C82"/>
                </a:solidFill>
              </a:rPr>
              <a:t>把試喝、內容與回購訊號串成可讀的漏斗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9CF8A-883B-4934-82B7-D22CE163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624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32E"/>
                </a:solidFill>
              </a:defRPr>
            </a:pPr>
            <a:r>
              <a:rPr sz="2250" b="1">
                <a:solidFill>
                  <a:srgbClr val="15232E"/>
                </a:solidFill>
              </a:rPr>
              <a:t>看見</a:t>
            </a:r>
          </a:p>
        </p:txBody>
      </p:sp>
      <p:sp>
        <p:nvSpPr>
          <p:cNvPr id="9" name="funnel-bg-0">
            <a:extLst xmlns:a="http://schemas.openxmlformats.org/drawingml/2006/main">
              <a:ext uri="{FF2B5EF4-FFF2-40B4-BE49-F238E27FC236}">
                <a16:creationId xmlns:a16="http://schemas.microsoft.com/office/drawing/2014/main" id="{77986CFB-B2CA-42BA-80B5-6FCE230F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1F2"/>
          </a:solidFill>
          <a:ln xmlns:a="http://schemas.openxmlformats.org/drawingml/2006/main" w="9525">
            <a:solidFill>
              <a:srgbClr val="B7CDD1"/>
            </a:solidFill>
            <a:prstDash val="solid"/>
          </a:ln>
        </p:spPr>
      </p:sp>
      <p:sp>
        <p:nvSpPr>
          <p:cNvPr id="10" name="funnel-bar-0">
            <a:extLst xmlns:a="http://schemas.openxmlformats.org/drawingml/2006/main">
              <a:ext uri="{FF2B5EF4-FFF2-40B4-BE49-F238E27FC236}">
                <a16:creationId xmlns:a16="http://schemas.microsoft.com/office/drawing/2014/main" id="{4B96FB9F-F0A9-4127-8D6A-ED13CA0E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7DD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AF949-E41B-4FDD-BEA9-31BF7B35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9243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E6C82"/>
                </a:solidFill>
              </a:defRPr>
            </a:pPr>
            <a:r>
              <a:rPr sz="1875">
                <a:solidFill>
                  <a:srgbClr val="5E6C82"/>
                </a:solidFill>
              </a:rPr>
              <a:t>內容與陳列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67C60-4C8E-47BF-B02D-B8C815E7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5232E"/>
                </a:solidFill>
              </a:defRPr>
            </a:pPr>
            <a:r>
              <a:rPr sz="2025" b="1">
                <a:solidFill>
                  <a:srgbClr val="15232E"/>
                </a:solidFill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20402-1D37-4787-A653-7B2DEE26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625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32E"/>
                </a:solidFill>
              </a:defRPr>
            </a:pPr>
            <a:r>
              <a:rPr sz="2250" b="1">
                <a:solidFill>
                  <a:srgbClr val="15232E"/>
                </a:solidFill>
              </a:rPr>
              <a:t>試喝</a:t>
            </a:r>
          </a:p>
        </p:txBody>
      </p:sp>
      <p:sp>
        <p:nvSpPr>
          <p:cNvPr id="14" name="funnel-bg-1">
            <a:extLst xmlns:a="http://schemas.openxmlformats.org/drawingml/2006/main">
              <a:ext uri="{FF2B5EF4-FFF2-40B4-BE49-F238E27FC236}">
                <a16:creationId xmlns:a16="http://schemas.microsoft.com/office/drawing/2014/main" id="{1F140571-F0A4-4848-89D0-C4E5AC69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0125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1F2"/>
          </a:solidFill>
          <a:ln xmlns:a="http://schemas.openxmlformats.org/drawingml/2006/main" w="9525">
            <a:solidFill>
              <a:srgbClr val="B7CDD1"/>
            </a:solidFill>
            <a:prstDash val="solid"/>
          </a:ln>
        </p:spPr>
      </p:sp>
      <p:sp>
        <p:nvSpPr>
          <p:cNvPr id="15" name="funnel-bar-1">
            <a:extLst xmlns:a="http://schemas.openxmlformats.org/drawingml/2006/main">
              <a:ext uri="{FF2B5EF4-FFF2-40B4-BE49-F238E27FC236}">
                <a16:creationId xmlns:a16="http://schemas.microsoft.com/office/drawing/2014/main" id="{463E1D44-397A-41AD-9A1F-8BF68F53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10125"/>
            <a:ext cx="672084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9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9DFE4-E6F7-4AFE-967B-9EDDD94B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924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E6C82"/>
                </a:solidFill>
              </a:defRPr>
            </a:pPr>
            <a:r>
              <a:rPr sz="1875">
                <a:solidFill>
                  <a:srgbClr val="5E6C82"/>
                </a:solidFill>
              </a:rPr>
              <a:t>一口感受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38213-0BF8-42DE-AF36-97EF3A59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92442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5232E"/>
                </a:solidFill>
              </a:defRPr>
            </a:pPr>
            <a:r>
              <a:rPr sz="2025" b="1">
                <a:solidFill>
                  <a:srgbClr val="15232E"/>
                </a:solidFill>
              </a:rPr>
              <a:t>72%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BE73D-BBF6-4C91-9CCD-DA380DFC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626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32E"/>
                </a:solidFill>
              </a:defRPr>
            </a:pPr>
            <a:r>
              <a:rPr sz="2250" b="1">
                <a:solidFill>
                  <a:srgbClr val="15232E"/>
                </a:solidFill>
              </a:rPr>
              <a:t>帶走</a:t>
            </a:r>
          </a:p>
        </p:txBody>
      </p:sp>
      <p:sp>
        <p:nvSpPr>
          <p:cNvPr id="19" name="funnel-bg-2">
            <a:extLst xmlns:a="http://schemas.openxmlformats.org/drawingml/2006/main">
              <a:ext uri="{FF2B5EF4-FFF2-40B4-BE49-F238E27FC236}">
                <a16:creationId xmlns:a16="http://schemas.microsoft.com/office/drawing/2014/main" id="{0F445D8E-26EA-441C-AC8A-299C7D59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1F2"/>
          </a:solidFill>
          <a:ln xmlns:a="http://schemas.openxmlformats.org/drawingml/2006/main" w="9525">
            <a:solidFill>
              <a:srgbClr val="B7CDD1"/>
            </a:solidFill>
            <a:prstDash val="solid"/>
          </a:ln>
        </p:spPr>
      </p:sp>
      <p:sp>
        <p:nvSpPr>
          <p:cNvPr id="20" name="funnel-bar-2">
            <a:extLst xmlns:a="http://schemas.openxmlformats.org/drawingml/2006/main">
              <a:ext uri="{FF2B5EF4-FFF2-40B4-BE49-F238E27FC236}">
                <a16:creationId xmlns:a16="http://schemas.microsoft.com/office/drawing/2014/main" id="{12099D9F-E86C-4FA8-8458-C8599E32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10250"/>
            <a:ext cx="448056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F52B0-7844-4F06-814A-D042D809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924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E6C82"/>
                </a:solidFill>
              </a:defRPr>
            </a:pPr>
            <a:r>
              <a:rPr sz="1875">
                <a:solidFill>
                  <a:srgbClr val="5E6C82"/>
                </a:solidFill>
              </a:rPr>
              <a:t>把選擇帶回家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5AC13-3403-4FED-9DE7-5A1B9FD9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92455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5232E"/>
                </a:solidFill>
              </a:defRPr>
            </a:pPr>
            <a:r>
              <a:rPr sz="2025" b="1">
                <a:solidFill>
                  <a:srgbClr val="15232E"/>
                </a:solidFill>
              </a:rPr>
              <a:t>48%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8BD18-5896-4303-BF14-A9EDD75E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96277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32E"/>
                </a:solidFill>
              </a:defRPr>
            </a:pPr>
            <a:r>
              <a:rPr sz="2250" b="1">
                <a:solidFill>
                  <a:srgbClr val="15232E"/>
                </a:solidFill>
              </a:rPr>
              <a:t>再買</a:t>
            </a:r>
          </a:p>
        </p:txBody>
      </p:sp>
      <p:sp>
        <p:nvSpPr>
          <p:cNvPr id="24" name="funnel-bg-3">
            <a:extLst xmlns:a="http://schemas.openxmlformats.org/drawingml/2006/main">
              <a:ext uri="{FF2B5EF4-FFF2-40B4-BE49-F238E27FC236}">
                <a16:creationId xmlns:a16="http://schemas.microsoft.com/office/drawing/2014/main" id="{D7A60CA2-7F24-46EC-BF0C-A0C8902B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810375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1F2"/>
          </a:solidFill>
          <a:ln xmlns:a="http://schemas.openxmlformats.org/drawingml/2006/main" w="9525">
            <a:solidFill>
              <a:srgbClr val="B7CDD1"/>
            </a:solidFill>
            <a:prstDash val="solid"/>
          </a:ln>
        </p:spPr>
      </p:sp>
      <p:sp>
        <p:nvSpPr>
          <p:cNvPr id="25" name="funnel-bar-3">
            <a:extLst xmlns:a="http://schemas.openxmlformats.org/drawingml/2006/main">
              <a:ext uri="{FF2B5EF4-FFF2-40B4-BE49-F238E27FC236}">
                <a16:creationId xmlns:a16="http://schemas.microsoft.com/office/drawing/2014/main" id="{BAC6AAC9-CF51-44AC-94B2-4EAAF443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810375"/>
            <a:ext cx="261366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D6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17A049-C4A2-401A-9AAF-496CF9CF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69246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E6C82"/>
                </a:solidFill>
              </a:defRPr>
            </a:pPr>
            <a:r>
              <a:rPr sz="1875">
                <a:solidFill>
                  <a:srgbClr val="5E6C82"/>
                </a:solidFill>
              </a:rPr>
              <a:t>形成回購訊號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2E0641-DCDD-4911-B7D7-81F1D6E5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92467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5232E"/>
                </a:solidFill>
              </a:defRPr>
            </a:pPr>
            <a:r>
              <a:rPr sz="2025" b="1">
                <a:solidFill>
                  <a:srgbClr val="15232E"/>
                </a:solidFill>
              </a:rPr>
              <a:t>28%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D35848-9030-4ECE-87D5-FA226223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8477250"/>
            <a:ext cx="1285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6F70"/>
                </a:solidFill>
              </a:defRPr>
            </a:pPr>
            <a:r>
              <a:rPr sz="2250" b="1">
                <a:solidFill>
                  <a:srgbClr val="1D6F70"/>
                </a:solidFill>
              </a:rPr>
              <a:t>判斷點：不是曝光越大越好，而是下一步越清楚越好。</a:t>
            </a:r>
          </a:p>
        </p:txBody>
      </p:sp>
    </p:spTree>
    <p:extLst>
      <p:ext uri="{BB962C8B-B14F-4D97-AF65-F5344CB8AC3E}">
        <p14:creationId xmlns:p14="http://schemas.microsoft.com/office/powerpoint/2010/main" val="1712730457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4F7F8"/>
            </a:gs>
            <a:gs pos="100000">
              <a:srgbClr val="E8F0F1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ist-orb-8">
            <a:extLst xmlns:a="http://schemas.openxmlformats.org/drawingml/2006/main">
              <a:ext uri="{FF2B5EF4-FFF2-40B4-BE49-F238E27FC236}">
                <a16:creationId xmlns:a16="http://schemas.microsoft.com/office/drawing/2014/main" id="{DD985FE5-1782-4B85-8E23-0F1D2397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905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ED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ist-orb-lower-8">
            <a:extLst xmlns:a="http://schemas.openxmlformats.org/drawingml/2006/main">
              <a:ext uri="{FF2B5EF4-FFF2-40B4-BE49-F238E27FC236}">
                <a16:creationId xmlns:a16="http://schemas.microsoft.com/office/drawing/2014/main" id="{4D6D55D3-A343-4AF9-A84E-C948026C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01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DE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xis-8">
            <a:extLst xmlns:a="http://schemas.openxmlformats.org/drawingml/2006/main">
              <a:ext uri="{FF2B5EF4-FFF2-40B4-BE49-F238E27FC236}">
                <a16:creationId xmlns:a16="http://schemas.microsoft.com/office/drawing/2014/main" id="{D3792543-5382-41EC-A3B0-A3B5B486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1543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8">
            <a:extLst xmlns:a="http://schemas.openxmlformats.org/drawingml/2006/main">
              <a:ext uri="{FF2B5EF4-FFF2-40B4-BE49-F238E27FC236}">
                <a16:creationId xmlns:a16="http://schemas.microsoft.com/office/drawing/2014/main" id="{ADB17033-4A85-47FB-9D04-27E94FC3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spc="2">
                <a:solidFill>
                  <a:srgbClr val="1D6F70"/>
                </a:solidFill>
              </a:defRPr>
            </a:pPr>
            <a:r>
              <a:rPr sz="1500" b="1" spc="2">
                <a:solidFill>
                  <a:srgbClr val="1D6F70"/>
                </a:solidFill>
              </a:rPr>
              <a:t>MIST POP / 90 DAY LAUNCH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FB539BE5-CAF6-46CC-B4FC-CC094BDA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715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E6C82"/>
                </a:solidFill>
              </a:defRPr>
            </a:pPr>
            <a:r>
              <a:rPr sz="1500" b="1">
                <a:solidFill>
                  <a:srgbClr val="5E6C82"/>
                </a:solidFill>
              </a:rPr>
              <a:t>08</a:t>
            </a:r>
          </a:p>
        </p:txBody>
      </p:sp>
      <p:sp>
        <p:nvSpPr>
          <p:cNvPr id="6" name="title-8">
            <a:extLst xmlns:a="http://schemas.openxmlformats.org/drawingml/2006/main">
              <a:ext uri="{FF2B5EF4-FFF2-40B4-BE49-F238E27FC236}">
                <a16:creationId xmlns:a16="http://schemas.microsoft.com/office/drawing/2014/main" id="{7B7E90FA-5CCA-47EF-B650-2B82370B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62100"/>
            <a:ext cx="1428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5232E"/>
                </a:solidFill>
              </a:defRPr>
            </a:pPr>
            <a:r>
              <a:rPr sz="5400" b="1">
                <a:solidFill>
                  <a:srgbClr val="15232E"/>
                </a:solidFill>
              </a:rPr>
              <a:t>90 天不是一次發布，而是三段連續學習</a:t>
            </a:r>
          </a:p>
        </p:txBody>
      </p:sp>
      <p:sp>
        <p:nvSpPr>
          <p:cNvPr id="7" name="subtitle-8">
            <a:extLst xmlns:a="http://schemas.openxmlformats.org/drawingml/2006/main">
              <a:ext uri="{FF2B5EF4-FFF2-40B4-BE49-F238E27FC236}">
                <a16:creationId xmlns:a16="http://schemas.microsoft.com/office/drawing/2014/main" id="{BF5B526E-1869-424E-A05C-CC9D4B9F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71750"/>
            <a:ext cx="1238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E6C82"/>
                </a:solidFill>
              </a:defRPr>
            </a:pPr>
            <a:r>
              <a:rPr sz="2250">
                <a:solidFill>
                  <a:srgbClr val="5E6C82"/>
                </a:solidFill>
              </a:rPr>
              <a:t>每一段都有明確輸入、行動與判斷點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7D3D2-A93B-48AF-806A-3EB00659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195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E6C82"/>
                </a:solidFill>
              </a:defRPr>
            </a:pPr>
            <a:r>
              <a:rPr sz="1800" b="1">
                <a:solidFill>
                  <a:srgbClr val="5E6C82"/>
                </a:solidFill>
              </a:rPr>
              <a:t>任務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847AD-282A-454B-A8DA-0E8C28C4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19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9E9A"/>
                </a:solidFill>
              </a:defRPr>
            </a:pPr>
            <a:r>
              <a:rPr sz="1800" b="1">
                <a:solidFill>
                  <a:srgbClr val="2E9E9A"/>
                </a:solidFill>
              </a:rPr>
              <a:t>0–30 天</a:t>
            </a:r>
          </a:p>
        </p:txBody>
      </p:sp>
      <p:sp>
        <p:nvSpPr>
          <p:cNvPr id="10" name="roadmap-0">
            <a:extLst xmlns:a="http://schemas.openxmlformats.org/drawingml/2006/main">
              <a:ext uri="{FF2B5EF4-FFF2-40B4-BE49-F238E27FC236}">
                <a16:creationId xmlns:a16="http://schemas.microsoft.com/office/drawing/2014/main" id="{EF56A3A5-7D61-46B4-94C5-4B5F5971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3714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9050">
            <a:solidFill>
              <a:srgbClr val="2E9E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9AAE6-3DE8-4BE6-B5D5-75FE11EE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196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32E"/>
                </a:solidFill>
              </a:defRPr>
            </a:pPr>
            <a:r>
              <a:rPr sz="2550" b="1">
                <a:solidFill>
                  <a:srgbClr val="15232E"/>
                </a:solidFill>
              </a:rPr>
              <a:t>種子體驗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70456-AB13-40A8-8671-6525C766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86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E6C82"/>
                </a:solidFill>
              </a:defRPr>
            </a:pPr>
            <a:r>
              <a:rPr sz="1875">
                <a:solidFill>
                  <a:srgbClr val="5E6C82"/>
                </a:solidFill>
              </a:rPr>
              <a:t>12 個試飲點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B7821-E49D-46AB-83A2-F4436DF3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578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admap-link-0">
            <a:extLst xmlns:a="http://schemas.openxmlformats.org/drawingml/2006/main">
              <a:ext uri="{FF2B5EF4-FFF2-40B4-BE49-F238E27FC236}">
                <a16:creationId xmlns:a16="http://schemas.microsoft.com/office/drawing/2014/main" id="{337EDD2A-A489-480B-9616-93288735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339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admap-arrow-0">
            <a:extLst xmlns:a="http://schemas.openxmlformats.org/drawingml/2006/main">
              <a:ext uri="{FF2B5EF4-FFF2-40B4-BE49-F238E27FC236}">
                <a16:creationId xmlns:a16="http://schemas.microsoft.com/office/drawing/2014/main" id="{02E780A9-68CE-45B0-826F-4A9926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29175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F4A12-442D-42B3-83A6-18534BD0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08A24"/>
                </a:solidFill>
              </a:defRPr>
            </a:pPr>
            <a:r>
              <a:rPr sz="1800" b="1">
                <a:solidFill>
                  <a:srgbClr val="F08A24"/>
                </a:solidFill>
              </a:rPr>
              <a:t>31–60 天</a:t>
            </a:r>
          </a:p>
        </p:txBody>
      </p:sp>
      <p:sp>
        <p:nvSpPr>
          <p:cNvPr id="17" name="roadmap-1">
            <a:extLst xmlns:a="http://schemas.openxmlformats.org/drawingml/2006/main">
              <a:ext uri="{FF2B5EF4-FFF2-40B4-BE49-F238E27FC236}">
                <a16:creationId xmlns:a16="http://schemas.microsoft.com/office/drawing/2014/main" id="{4EBFE403-92D4-43EE-AC40-77050BC6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714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9050">
            <a:solidFill>
              <a:srgbClr val="F08A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FB8AD-C40F-461D-A8EF-94B618CF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196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32E"/>
                </a:solidFill>
              </a:defRPr>
            </a:pPr>
            <a:r>
              <a:rPr sz="2550" b="1">
                <a:solidFill>
                  <a:srgbClr val="15232E"/>
                </a:solidFill>
              </a:rPr>
              <a:t>通路放大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7353B-E467-40B7-BC82-2346D716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86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E6C82"/>
                </a:solidFill>
              </a:defRPr>
            </a:pPr>
            <a:r>
              <a:rPr sz="1875">
                <a:solidFill>
                  <a:srgbClr val="5E6C82"/>
                </a:solidFill>
              </a:rPr>
              <a:t>兩個合作網絡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D41CC-BE61-408F-8310-55AAC0C7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6578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oadmap-link-1">
            <a:extLst xmlns:a="http://schemas.openxmlformats.org/drawingml/2006/main">
              <a:ext uri="{FF2B5EF4-FFF2-40B4-BE49-F238E27FC236}">
                <a16:creationId xmlns:a16="http://schemas.microsoft.com/office/drawing/2014/main" id="{2107B4CF-3E2E-4E7F-8A39-B4807113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339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admap-arrow-1">
            <a:extLst xmlns:a="http://schemas.openxmlformats.org/drawingml/2006/main">
              <a:ext uri="{FF2B5EF4-FFF2-40B4-BE49-F238E27FC236}">
                <a16:creationId xmlns:a16="http://schemas.microsoft.com/office/drawing/2014/main" id="{FE74C133-DB2F-4AC0-A0B0-1A5210CD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29175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0DD02-FD02-42B9-A98A-3C03632C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619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6F70"/>
                </a:solidFill>
              </a:defRPr>
            </a:pPr>
            <a:r>
              <a:rPr sz="1800" b="1">
                <a:solidFill>
                  <a:srgbClr val="1D6F70"/>
                </a:solidFill>
              </a:rPr>
              <a:t>61–90 天</a:t>
            </a:r>
          </a:p>
        </p:txBody>
      </p:sp>
      <p:sp>
        <p:nvSpPr>
          <p:cNvPr id="24" name="roadmap-2">
            <a:extLst xmlns:a="http://schemas.openxmlformats.org/drawingml/2006/main">
              <a:ext uri="{FF2B5EF4-FFF2-40B4-BE49-F238E27FC236}">
                <a16:creationId xmlns:a16="http://schemas.microsoft.com/office/drawing/2014/main" id="{BC8913EA-B7D2-4FE6-99DE-0B285D9F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095750"/>
            <a:ext cx="3714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9050">
            <a:solidFill>
              <a:srgbClr val="1D6F7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17D50-6308-4C95-A900-F330F901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4196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32E"/>
                </a:solidFill>
              </a:defRPr>
            </a:pPr>
            <a:r>
              <a:rPr sz="2550" b="1">
                <a:solidFill>
                  <a:srgbClr val="15232E"/>
                </a:solidFill>
              </a:rPr>
              <a:t>回購驗證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54C2AF-D564-407B-AA88-720CB44A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086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E6C82"/>
                </a:solidFill>
              </a:defRPr>
            </a:pPr>
            <a:r>
              <a:rPr sz="1875">
                <a:solidFill>
                  <a:srgbClr val="5E6C82"/>
                </a:solidFill>
              </a:rPr>
              <a:t>決定是否加碼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AF1148-7D2D-4063-9A6D-75DF9CDD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6578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F2E7E-861F-4C88-9020-DDE190B4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620000"/>
            <a:ext cx="1333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D6F70"/>
                </a:solidFill>
              </a:defRPr>
            </a:pPr>
            <a:r>
              <a:rPr sz="2325" b="1">
                <a:solidFill>
                  <a:srgbClr val="1D6F70"/>
                </a:solidFill>
              </a:rPr>
              <a:t>每 30 天換一個問題，才不會只換一個廣告。</a:t>
            </a:r>
          </a:p>
        </p:txBody>
      </p:sp>
    </p:spTree>
    <p:extLst>
      <p:ext uri="{BB962C8B-B14F-4D97-AF65-F5344CB8AC3E}">
        <p14:creationId xmlns:p14="http://schemas.microsoft.com/office/powerpoint/2010/main" val="454564082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4F7F8"/>
            </a:gs>
            <a:gs pos="100000">
              <a:srgbClr val="E8F0F1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mist-orb-9">
            <a:extLst xmlns:a="http://schemas.openxmlformats.org/drawingml/2006/main">
              <a:ext uri="{FF2B5EF4-FFF2-40B4-BE49-F238E27FC236}">
                <a16:creationId xmlns:a16="http://schemas.microsoft.com/office/drawing/2014/main" id="{05A0DC27-EB74-47F1-95E0-8A42972F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905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ED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ist-orb-lower-9">
            <a:extLst xmlns:a="http://schemas.openxmlformats.org/drawingml/2006/main">
              <a:ext uri="{FF2B5EF4-FFF2-40B4-BE49-F238E27FC236}">
                <a16:creationId xmlns:a16="http://schemas.microsoft.com/office/drawing/2014/main" id="{70C2202A-DB28-4552-B65C-C54E2CB4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01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DE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xis-9">
            <a:extLst xmlns:a="http://schemas.openxmlformats.org/drawingml/2006/main">
              <a:ext uri="{FF2B5EF4-FFF2-40B4-BE49-F238E27FC236}">
                <a16:creationId xmlns:a16="http://schemas.microsoft.com/office/drawing/2014/main" id="{ED0DD8F4-6F70-4CC8-AC54-74FFEB6F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1543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9">
            <a:extLst xmlns:a="http://schemas.openxmlformats.org/drawingml/2006/main">
              <a:ext uri="{FF2B5EF4-FFF2-40B4-BE49-F238E27FC236}">
                <a16:creationId xmlns:a16="http://schemas.microsoft.com/office/drawing/2014/main" id="{431ACB0F-C345-4412-B3ED-48125C80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spc="2">
                <a:solidFill>
                  <a:srgbClr val="1D6F70"/>
                </a:solidFill>
              </a:defRPr>
            </a:pPr>
            <a:r>
              <a:rPr sz="1500" b="1" spc="2">
                <a:solidFill>
                  <a:srgbClr val="1D6F70"/>
                </a:solidFill>
              </a:rPr>
              <a:t>MIST POP / THE QUESTION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1FAE244F-C38B-425E-BC44-C76BC983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715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E6C82"/>
                </a:solidFill>
              </a:defRPr>
            </a:pPr>
            <a:r>
              <a:rPr sz="1500" b="1">
                <a:solidFill>
                  <a:srgbClr val="5E6C82"/>
                </a:solidFill>
              </a:rPr>
              <a:t>09</a:t>
            </a:r>
          </a:p>
        </p:txBody>
      </p:sp>
      <p:sp>
        <p:nvSpPr>
          <p:cNvPr id="6" name="pause-orb">
            <a:extLst xmlns:a="http://schemas.openxmlformats.org/drawingml/2006/main">
              <a:ext uri="{FF2B5EF4-FFF2-40B4-BE49-F238E27FC236}">
                <a16:creationId xmlns:a16="http://schemas.microsoft.com/office/drawing/2014/main" id="{95C5695B-B79E-42E9-9831-0D19C375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190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E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use-dot">
            <a:extLst xmlns:a="http://schemas.openxmlformats.org/drawingml/2006/main">
              <a:ext uri="{FF2B5EF4-FFF2-40B4-BE49-F238E27FC236}">
                <a16:creationId xmlns:a16="http://schemas.microsoft.com/office/drawing/2014/main" id="{A15FED8C-7FF8-4B57-8313-07636CA1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3162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use-lead">
            <a:extLst xmlns:a="http://schemas.openxmlformats.org/drawingml/2006/main">
              <a:ext uri="{FF2B5EF4-FFF2-40B4-BE49-F238E27FC236}">
                <a16:creationId xmlns:a16="http://schemas.microsoft.com/office/drawing/2014/main" id="{7916ED19-89FA-43BE-9091-5B9F987F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1190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5E6C82"/>
                </a:solidFill>
              </a:defRPr>
            </a:pPr>
            <a:r>
              <a:rPr sz="3150">
                <a:solidFill>
                  <a:srgbClr val="5E6C82"/>
                </a:solidFill>
              </a:rPr>
              <a:t>我們要的第一個答案很簡單：</a:t>
            </a:r>
          </a:p>
        </p:txBody>
      </p:sp>
      <p:sp>
        <p:nvSpPr>
          <p:cNvPr id="9" name="title-9">
            <a:extLst xmlns:a="http://schemas.openxmlformats.org/drawingml/2006/main">
              <a:ext uri="{FF2B5EF4-FFF2-40B4-BE49-F238E27FC236}">
                <a16:creationId xmlns:a16="http://schemas.microsoft.com/office/drawing/2014/main" id="{79DBDB0C-28D0-4B0A-B7EC-36965545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1190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15232E"/>
                </a:solidFill>
              </a:defRPr>
            </a:pPr>
            <a:r>
              <a:rPr sz="6900" b="1">
                <a:solidFill>
                  <a:srgbClr val="15232E"/>
                </a:solidFill>
              </a:rPr>
              <a:t>人們會不會</a:t>
            </a:r>
          </a:p>
          <a:p xmlns:a="http://schemas.openxmlformats.org/drawingml/2006/main">
            <a:pPr>
              <a:defRPr sz="6900" b="1">
                <a:solidFill>
                  <a:srgbClr val="15232E"/>
                </a:solidFill>
              </a:defRPr>
            </a:pPr>
            <a:r>
              <a:rPr sz="6900" b="1">
                <a:solidFill>
                  <a:srgbClr val="15232E"/>
                </a:solidFill>
              </a:rPr>
              <a:t>主動再拿一罐？</a:t>
            </a:r>
          </a:p>
        </p:txBody>
      </p:sp>
      <p:sp>
        <p:nvSpPr>
          <p:cNvPr id="10" name="pause-rule">
            <a:extLst xmlns:a="http://schemas.openxmlformats.org/drawingml/2006/main">
              <a:ext uri="{FF2B5EF4-FFF2-40B4-BE49-F238E27FC236}">
                <a16:creationId xmlns:a16="http://schemas.microsoft.com/office/drawing/2014/main" id="{93EB5F24-0305-4C86-8190-593259DC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8580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E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use-note">
            <a:extLst xmlns:a="http://schemas.openxmlformats.org/drawingml/2006/main">
              <a:ext uri="{FF2B5EF4-FFF2-40B4-BE49-F238E27FC236}">
                <a16:creationId xmlns:a16="http://schemas.microsoft.com/office/drawing/2014/main" id="{7F1363E1-BC1B-431F-B6BF-762FBEA8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524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D6F70"/>
                </a:solidFill>
              </a:defRPr>
            </a:pPr>
            <a:r>
              <a:rPr sz="2700" b="1">
                <a:solidFill>
                  <a:srgbClr val="1D6F70"/>
                </a:solidFill>
              </a:rPr>
              <a:t>如果會，第二階段才值得加大投資。</a:t>
            </a:r>
          </a:p>
        </p:txBody>
      </p:sp>
    </p:spTree>
    <p:extLst>
      <p:ext uri="{BB962C8B-B14F-4D97-AF65-F5344CB8AC3E}">
        <p14:creationId xmlns:p14="http://schemas.microsoft.com/office/powerpoint/2010/main" val="451714255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4F7F8"/>
            </a:gs>
            <a:gs pos="100000">
              <a:srgbClr val="E8F0F1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ist-orb-10">
            <a:extLst xmlns:a="http://schemas.openxmlformats.org/drawingml/2006/main">
              <a:ext uri="{FF2B5EF4-FFF2-40B4-BE49-F238E27FC236}">
                <a16:creationId xmlns:a16="http://schemas.microsoft.com/office/drawing/2014/main" id="{19DC1BF0-0D23-4E62-A5E2-B5E735D6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905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ED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mist-orb-lower-10">
            <a:extLst xmlns:a="http://schemas.openxmlformats.org/drawingml/2006/main">
              <a:ext uri="{FF2B5EF4-FFF2-40B4-BE49-F238E27FC236}">
                <a16:creationId xmlns:a16="http://schemas.microsoft.com/office/drawing/2014/main" id="{FEBC4D76-E42F-4D4E-A392-CF53F739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01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DE0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xis-10">
            <a:extLst xmlns:a="http://schemas.openxmlformats.org/drawingml/2006/main">
              <a:ext uri="{FF2B5EF4-FFF2-40B4-BE49-F238E27FC236}">
                <a16:creationId xmlns:a16="http://schemas.microsoft.com/office/drawing/2014/main" id="{ED4B64DE-17F3-4DC9-977F-E537C7EE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1543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10">
            <a:extLst xmlns:a="http://schemas.openxmlformats.org/drawingml/2006/main">
              <a:ext uri="{FF2B5EF4-FFF2-40B4-BE49-F238E27FC236}">
                <a16:creationId xmlns:a16="http://schemas.microsoft.com/office/drawing/2014/main" id="{AFAC9739-E888-422C-B9A6-F260B03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spc="2">
                <a:solidFill>
                  <a:srgbClr val="1D6F70"/>
                </a:solidFill>
              </a:defRPr>
            </a:pPr>
            <a:r>
              <a:rPr sz="1500" b="1" spc="2">
                <a:solidFill>
                  <a:srgbClr val="1D6F70"/>
                </a:solidFill>
              </a:rPr>
              <a:t>MIST POP / NEXT MOVE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D5EA1CFC-1123-48E1-96A9-25B20B7B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715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E6C82"/>
                </a:solidFill>
              </a:defRPr>
            </a:pPr>
            <a:r>
              <a:rPr sz="1500" b="1">
                <a:solidFill>
                  <a:srgbClr val="5E6C82"/>
                </a:solidFill>
              </a:rPr>
              <a:t>10</a:t>
            </a:r>
          </a:p>
        </p:txBody>
      </p:sp>
      <p:sp>
        <p:nvSpPr>
          <p:cNvPr id="6" name="title-10">
            <a:extLst xmlns:a="http://schemas.openxmlformats.org/drawingml/2006/main">
              <a:ext uri="{FF2B5EF4-FFF2-40B4-BE49-F238E27FC236}">
                <a16:creationId xmlns:a16="http://schemas.microsoft.com/office/drawing/2014/main" id="{1F12B1C2-24C3-4E56-A970-95A4277D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1390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5232E"/>
                </a:solidFill>
              </a:defRPr>
            </a:pPr>
            <a:r>
              <a:rPr sz="4650" b="1">
                <a:solidFill>
                  <a:srgbClr val="15232E"/>
                </a:solidFill>
              </a:rPr>
              <a:t>用 90 天，換一個可複製的上市公式</a:t>
            </a:r>
          </a:p>
        </p:txBody>
      </p:sp>
      <p:sp>
        <p:nvSpPr>
          <p:cNvPr id="7" name="subtitle-10">
            <a:extLst xmlns:a="http://schemas.openxmlformats.org/drawingml/2006/main">
              <a:ext uri="{FF2B5EF4-FFF2-40B4-BE49-F238E27FC236}">
                <a16:creationId xmlns:a16="http://schemas.microsoft.com/office/drawing/2014/main" id="{6466E979-136B-4ABA-BFA4-753B1231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1238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D6F70"/>
                </a:solidFill>
              </a:defRPr>
            </a:pPr>
            <a:r>
              <a:rPr sz="2400">
                <a:solidFill>
                  <a:srgbClr val="1D6F70"/>
                </a:solidFill>
              </a:rPr>
              <a:t>MIST POP｜從一杯好喝的選擇開始</a:t>
            </a:r>
          </a:p>
        </p:txBody>
      </p:sp>
      <p:sp>
        <p:nvSpPr>
          <p:cNvPr id="8" name="next-0">
            <a:extLst xmlns:a="http://schemas.openxmlformats.org/drawingml/2006/main">
              <a:ext uri="{FF2B5EF4-FFF2-40B4-BE49-F238E27FC236}">
                <a16:creationId xmlns:a16="http://schemas.microsoft.com/office/drawing/2014/main" id="{223F9012-C9C1-467A-8B60-4D00108D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4000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9050">
            <a:solidFill>
              <a:srgbClr val="2E9E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6941A-7045-414A-AFFF-B7DAEB94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38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E9E9A"/>
                </a:solidFill>
              </a:defRPr>
            </a:pPr>
            <a:r>
              <a:rPr sz="1875" b="1">
                <a:solidFill>
                  <a:srgbClr val="2E9E9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BDC53-B6F4-4AA2-8A63-AF59AD92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8102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32E"/>
                </a:solidFill>
              </a:defRPr>
            </a:pPr>
            <a:r>
              <a:rPr sz="2550" b="1">
                <a:solidFill>
                  <a:srgbClr val="15232E"/>
                </a:solidFill>
              </a:rPr>
              <a:t>鎖定兩款口味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EEF34-7463-4420-BBF1-8FD132F5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72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E6C82"/>
                </a:solidFill>
              </a:defRPr>
            </a:pPr>
            <a:r>
              <a:rPr sz="1800">
                <a:solidFill>
                  <a:srgbClr val="5E6C82"/>
                </a:solidFill>
              </a:rPr>
              <a:t>先把產品說清楚</a:t>
            </a:r>
          </a:p>
        </p:txBody>
      </p:sp>
      <p:sp>
        <p:nvSpPr>
          <p:cNvPr id="12" name="next-1">
            <a:extLst xmlns:a="http://schemas.openxmlformats.org/drawingml/2006/main">
              <a:ext uri="{FF2B5EF4-FFF2-40B4-BE49-F238E27FC236}">
                <a16:creationId xmlns:a16="http://schemas.microsoft.com/office/drawing/2014/main" id="{4FC8DC94-30E0-4F1D-A08F-43A04380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4000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9050">
            <a:solidFill>
              <a:srgbClr val="F08A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246D2-E401-4504-916F-9796591A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38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08A24"/>
                </a:solidFill>
              </a:defRPr>
            </a:pPr>
            <a:r>
              <a:rPr sz="1875" b="1">
                <a:solidFill>
                  <a:srgbClr val="F08A24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8C31A-3B67-43CB-9B4F-410703AE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102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32E"/>
                </a:solidFill>
              </a:defRPr>
            </a:pPr>
            <a:r>
              <a:rPr sz="2550" b="1">
                <a:solidFill>
                  <a:srgbClr val="15232E"/>
                </a:solidFill>
              </a:rPr>
              <a:t>啟動 12 個試飲點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174B3-AB2D-4F23-8B90-C4B6A8CD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572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E6C82"/>
                </a:solidFill>
              </a:defRPr>
            </a:pPr>
            <a:r>
              <a:rPr sz="1800">
                <a:solidFill>
                  <a:srgbClr val="5E6C82"/>
                </a:solidFill>
              </a:rPr>
              <a:t>讓體驗真的發生</a:t>
            </a:r>
          </a:p>
        </p:txBody>
      </p:sp>
      <p:sp>
        <p:nvSpPr>
          <p:cNvPr id="16" name="next-2">
            <a:extLst xmlns:a="http://schemas.openxmlformats.org/drawingml/2006/main">
              <a:ext uri="{FF2B5EF4-FFF2-40B4-BE49-F238E27FC236}">
                <a16:creationId xmlns:a16="http://schemas.microsoft.com/office/drawing/2014/main" id="{A636816B-CE52-4D01-AC94-85B40B69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953000"/>
            <a:ext cx="4000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9050">
            <a:solidFill>
              <a:srgbClr val="1D6F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23752-578D-44E1-9751-94A4511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238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D6F70"/>
                </a:solidFill>
              </a:defRPr>
            </a:pPr>
            <a:r>
              <a:rPr sz="1875" b="1">
                <a:solidFill>
                  <a:srgbClr val="1D6F7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E38D1-55D6-418B-92D1-39467DEE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102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232E"/>
                </a:solidFill>
              </a:defRPr>
            </a:pPr>
            <a:r>
              <a:rPr sz="2550" b="1">
                <a:solidFill>
                  <a:srgbClr val="15232E"/>
                </a:solidFill>
              </a:rPr>
              <a:t>每週回看回購訊號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CD3A97-AE82-456E-A472-6394166C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572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E6C82"/>
                </a:solidFill>
              </a:defRPr>
            </a:pPr>
            <a:r>
              <a:rPr sz="1800">
                <a:solidFill>
                  <a:srgbClr val="5E6C82"/>
                </a:solidFill>
              </a:rPr>
              <a:t>把學習變成節奏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5AB66-ABAE-49E7-B2FE-94A9BF2C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334375"/>
            <a:ext cx="1333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232E"/>
                </a:solidFill>
              </a:defRPr>
            </a:pPr>
            <a:r>
              <a:rPr sz="2325" b="1">
                <a:solidFill>
                  <a:srgbClr val="15232E"/>
                </a:solidFill>
              </a:rPr>
              <a:t>MIST POP 不是替代品；它是下一個更好的選擇。</a:t>
            </a:r>
          </a:p>
        </p:txBody>
      </p:sp>
    </p:spTree>
    <p:extLst>
      <p:ext uri="{BB962C8B-B14F-4D97-AF65-F5344CB8AC3E}">
        <p14:creationId xmlns:p14="http://schemas.microsoft.com/office/powerpoint/2010/main" val="1672092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2026-08-17T18:17:37.7100000Z</dcterms:created>
  <dcterms:modified xsi:type="dcterms:W3CDTF">2026-08-17T18:17:37.7100000Z</dcterms:modified>
</coreProperties>
</file>